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Kooperativ" charset="1" panose="00000000000000000000"/>
      <p:regular r:id="rId25"/>
    </p:embeddedFont>
    <p:embeddedFont>
      <p:font typeface="Canva Sans Bold" charset="1" panose="020B0803030501040103"/>
      <p:regular r:id="rId26"/>
    </p:embeddedFont>
    <p:embeddedFont>
      <p:font typeface="Canva Sans" charset="1" panose="020B0503030501040103"/>
      <p:regular r:id="rId27"/>
    </p:embeddedFont>
    <p:embeddedFont>
      <p:font typeface="Poppins Bold" charset="1" panose="00000800000000000000"/>
      <p:regular r:id="rId28"/>
    </p:embeddedFont>
    <p:embeddedFont>
      <p:font typeface="Poppins Medium" charset="1" panose="000006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png" Type="http://schemas.openxmlformats.org/officeDocument/2006/relationships/image"/><Relationship Id="rId2" Target="../media/image1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49.png" Type="http://schemas.openxmlformats.org/officeDocument/2006/relationships/image"/><Relationship Id="rId13" Target="../media/image5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9623275" y="-1760556"/>
            <a:ext cx="8664725" cy="8255120"/>
          </a:xfrm>
          <a:custGeom>
            <a:avLst/>
            <a:gdLst/>
            <a:ahLst/>
            <a:cxnLst/>
            <a:rect r="r" b="b" t="t" l="l"/>
            <a:pathLst>
              <a:path h="8255120" w="8664725">
                <a:moveTo>
                  <a:pt x="0" y="0"/>
                </a:moveTo>
                <a:lnTo>
                  <a:pt x="8664725" y="0"/>
                </a:lnTo>
                <a:lnTo>
                  <a:pt x="8664725" y="8255120"/>
                </a:lnTo>
                <a:lnTo>
                  <a:pt x="0" y="82551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85871" y="5605172"/>
            <a:ext cx="4952730" cy="4718601"/>
          </a:xfrm>
          <a:custGeom>
            <a:avLst/>
            <a:gdLst/>
            <a:ahLst/>
            <a:cxnLst/>
            <a:rect r="r" b="b" t="t" l="l"/>
            <a:pathLst>
              <a:path h="4718601" w="4952730">
                <a:moveTo>
                  <a:pt x="0" y="0"/>
                </a:moveTo>
                <a:lnTo>
                  <a:pt x="4952730" y="0"/>
                </a:lnTo>
                <a:lnTo>
                  <a:pt x="4952730" y="4718601"/>
                </a:lnTo>
                <a:lnTo>
                  <a:pt x="0" y="47186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786939" y="9540136"/>
            <a:ext cx="23861879" cy="1715718"/>
            <a:chOff x="0" y="0"/>
            <a:chExt cx="6284610" cy="451876"/>
          </a:xfrm>
        </p:grpSpPr>
        <p:sp>
          <p:nvSpPr>
            <p:cNvPr name="Freeform 5" id="5"/>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6" id="6"/>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7" id="7"/>
          <p:cNvSpPr/>
          <p:nvPr/>
        </p:nvSpPr>
        <p:spPr>
          <a:xfrm flipH="false" flipV="false" rot="0">
            <a:off x="9871409" y="557426"/>
            <a:ext cx="8683638" cy="11425839"/>
          </a:xfrm>
          <a:custGeom>
            <a:avLst/>
            <a:gdLst/>
            <a:ahLst/>
            <a:cxnLst/>
            <a:rect r="r" b="b" t="t" l="l"/>
            <a:pathLst>
              <a:path h="11425839" w="8683638">
                <a:moveTo>
                  <a:pt x="0" y="0"/>
                </a:moveTo>
                <a:lnTo>
                  <a:pt x="8683637" y="0"/>
                </a:lnTo>
                <a:lnTo>
                  <a:pt x="8683637" y="11425838"/>
                </a:lnTo>
                <a:lnTo>
                  <a:pt x="0" y="114258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2468390">
            <a:off x="671705" y="4865782"/>
            <a:ext cx="5627462" cy="4114800"/>
          </a:xfrm>
          <a:custGeom>
            <a:avLst/>
            <a:gdLst/>
            <a:ahLst/>
            <a:cxnLst/>
            <a:rect r="r" b="b" t="t" l="l"/>
            <a:pathLst>
              <a:path h="4114800" w="5627462">
                <a:moveTo>
                  <a:pt x="5627461" y="0"/>
                </a:moveTo>
                <a:lnTo>
                  <a:pt x="0" y="0"/>
                </a:lnTo>
                <a:lnTo>
                  <a:pt x="0" y="4114800"/>
                </a:lnTo>
                <a:lnTo>
                  <a:pt x="5627461" y="4114800"/>
                </a:lnTo>
                <a:lnTo>
                  <a:pt x="562746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66846">
            <a:off x="16733914" y="2997204"/>
            <a:ext cx="1050773" cy="1050773"/>
          </a:xfrm>
          <a:custGeom>
            <a:avLst/>
            <a:gdLst/>
            <a:ahLst/>
            <a:cxnLst/>
            <a:rect r="r" b="b" t="t" l="l"/>
            <a:pathLst>
              <a:path h="1050773" w="1050773">
                <a:moveTo>
                  <a:pt x="0" y="0"/>
                </a:moveTo>
                <a:lnTo>
                  <a:pt x="1050772" y="0"/>
                </a:lnTo>
                <a:lnTo>
                  <a:pt x="1050772" y="1050773"/>
                </a:lnTo>
                <a:lnTo>
                  <a:pt x="0" y="10507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2836" y="555865"/>
            <a:ext cx="11031990" cy="3540866"/>
          </a:xfrm>
          <a:prstGeom prst="rect">
            <a:avLst/>
          </a:prstGeom>
        </p:spPr>
        <p:txBody>
          <a:bodyPr anchor="t" rtlCol="false" tIns="0" lIns="0" bIns="0" rIns="0">
            <a:spAutoFit/>
          </a:bodyPr>
          <a:lstStyle/>
          <a:p>
            <a:pPr algn="ctr">
              <a:lnSpc>
                <a:spcPts val="13387"/>
              </a:lnSpc>
            </a:pPr>
            <a:r>
              <a:rPr lang="en-US" sz="15041">
                <a:solidFill>
                  <a:srgbClr val="FFFFFF"/>
                </a:solidFill>
                <a:latin typeface="Kooperativ"/>
                <a:ea typeface="Kooperativ"/>
                <a:cs typeface="Kooperativ"/>
                <a:sym typeface="Kooperativ"/>
              </a:rPr>
              <a:t>PIZZA STORE ANALYSIS</a:t>
            </a:r>
          </a:p>
        </p:txBody>
      </p:sp>
      <p:sp>
        <p:nvSpPr>
          <p:cNvPr name="Freeform 11" id="11"/>
          <p:cNvSpPr/>
          <p:nvPr/>
        </p:nvSpPr>
        <p:spPr>
          <a:xfrm flipH="false" flipV="false" rot="-387305">
            <a:off x="5484824" y="8046936"/>
            <a:ext cx="1532689" cy="1164843"/>
          </a:xfrm>
          <a:custGeom>
            <a:avLst/>
            <a:gdLst/>
            <a:ahLst/>
            <a:cxnLst/>
            <a:rect r="r" b="b" t="t" l="l"/>
            <a:pathLst>
              <a:path h="1164843" w="1532689">
                <a:moveTo>
                  <a:pt x="0" y="0"/>
                </a:moveTo>
                <a:lnTo>
                  <a:pt x="1532689" y="0"/>
                </a:lnTo>
                <a:lnTo>
                  <a:pt x="1532689" y="1164843"/>
                </a:lnTo>
                <a:lnTo>
                  <a:pt x="0" y="116484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5528831" y="5086350"/>
            <a:ext cx="8009468" cy="1024079"/>
          </a:xfrm>
          <a:prstGeom prst="rect">
            <a:avLst/>
          </a:prstGeom>
        </p:spPr>
        <p:txBody>
          <a:bodyPr anchor="t" rtlCol="false" tIns="0" lIns="0" bIns="0" rIns="0">
            <a:spAutoFit/>
          </a:bodyPr>
          <a:lstStyle/>
          <a:p>
            <a:pPr algn="ctr">
              <a:lnSpc>
                <a:spcPts val="4102"/>
              </a:lnSpc>
            </a:pPr>
            <a:r>
              <a:rPr lang="en-US" sz="2930">
                <a:solidFill>
                  <a:srgbClr val="FFFFFF"/>
                </a:solidFill>
                <a:latin typeface="Canva Sans Bold"/>
                <a:ea typeface="Canva Sans Bold"/>
                <a:cs typeface="Canva Sans Bold"/>
                <a:sym typeface="Canva Sans Bold"/>
              </a:rPr>
              <a:t>BY - KARTIKAY CHAUDHARY </a:t>
            </a:r>
          </a:p>
          <a:p>
            <a:pPr algn="ctr">
              <a:lnSpc>
                <a:spcPts val="4102"/>
              </a:lnSpc>
            </a:pPr>
            <a:r>
              <a:rPr lang="en-US" sz="2930">
                <a:solidFill>
                  <a:srgbClr val="FFFFFF"/>
                </a:solidFill>
                <a:latin typeface="Canva Sans Bold"/>
                <a:ea typeface="Canva Sans Bold"/>
                <a:cs typeface="Canva Sans Bold"/>
                <a:sym typeface="Canva Sans Bold"/>
              </a:rPr>
              <a:t>2K21/EE/158</a:t>
            </a:r>
          </a:p>
        </p:txBody>
      </p:sp>
      <p:sp>
        <p:nvSpPr>
          <p:cNvPr name="TextBox 13" id="13"/>
          <p:cNvSpPr txBox="true"/>
          <p:nvPr/>
        </p:nvSpPr>
        <p:spPr>
          <a:xfrm rot="0">
            <a:off x="3485436" y="3942083"/>
            <a:ext cx="384006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-USING SQL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4924639" y="-4227621"/>
            <a:ext cx="8898496" cy="8477840"/>
          </a:xfrm>
          <a:custGeom>
            <a:avLst/>
            <a:gdLst/>
            <a:ahLst/>
            <a:cxnLst/>
            <a:rect r="r" b="b" t="t" l="l"/>
            <a:pathLst>
              <a:path h="8477840" w="8898496">
                <a:moveTo>
                  <a:pt x="0" y="0"/>
                </a:moveTo>
                <a:lnTo>
                  <a:pt x="8898496" y="0"/>
                </a:lnTo>
                <a:lnTo>
                  <a:pt x="8898496" y="8477840"/>
                </a:lnTo>
                <a:lnTo>
                  <a:pt x="0" y="84778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47050" y="-3247149"/>
            <a:ext cx="8716258" cy="8229600"/>
          </a:xfrm>
          <a:custGeom>
            <a:avLst/>
            <a:gdLst/>
            <a:ahLst/>
            <a:cxnLst/>
            <a:rect r="r" b="b" t="t" l="l"/>
            <a:pathLst>
              <a:path h="8229600" w="8716258">
                <a:moveTo>
                  <a:pt x="0" y="0"/>
                </a:moveTo>
                <a:lnTo>
                  <a:pt x="8716258" y="0"/>
                </a:lnTo>
                <a:lnTo>
                  <a:pt x="8716258" y="8229600"/>
                </a:lnTo>
                <a:lnTo>
                  <a:pt x="0" y="8229600"/>
                </a:lnTo>
                <a:lnTo>
                  <a:pt x="0" y="0"/>
                </a:lnTo>
                <a:close/>
              </a:path>
            </a:pathLst>
          </a:custGeom>
          <a:blipFill>
            <a:blip r:embed="rId4"/>
            <a:stretch>
              <a:fillRect l="0" t="0" r="0" b="0"/>
            </a:stretch>
          </a:blipFill>
        </p:spPr>
      </p:sp>
      <p:sp>
        <p:nvSpPr>
          <p:cNvPr name="Freeform 4" id="4"/>
          <p:cNvSpPr/>
          <p:nvPr/>
        </p:nvSpPr>
        <p:spPr>
          <a:xfrm flipH="false" flipV="false" rot="0">
            <a:off x="-3875308" y="-3247149"/>
            <a:ext cx="8716258" cy="8229600"/>
          </a:xfrm>
          <a:custGeom>
            <a:avLst/>
            <a:gdLst/>
            <a:ahLst/>
            <a:cxnLst/>
            <a:rect r="r" b="b" t="t" l="l"/>
            <a:pathLst>
              <a:path h="8229600" w="8716258">
                <a:moveTo>
                  <a:pt x="0" y="0"/>
                </a:moveTo>
                <a:lnTo>
                  <a:pt x="8716258" y="0"/>
                </a:lnTo>
                <a:lnTo>
                  <a:pt x="8716258" y="8229600"/>
                </a:lnTo>
                <a:lnTo>
                  <a:pt x="0" y="8229600"/>
                </a:lnTo>
                <a:lnTo>
                  <a:pt x="0" y="0"/>
                </a:lnTo>
                <a:close/>
              </a:path>
            </a:pathLst>
          </a:custGeom>
          <a:blipFill>
            <a:blip r:embed="rId4"/>
            <a:stretch>
              <a:fillRect l="0" t="0" r="0" b="0"/>
            </a:stretch>
          </a:blipFill>
        </p:spPr>
      </p:sp>
      <p:grpSp>
        <p:nvGrpSpPr>
          <p:cNvPr name="Group 5" id="5"/>
          <p:cNvGrpSpPr/>
          <p:nvPr/>
        </p:nvGrpSpPr>
        <p:grpSpPr>
          <a:xfrm rot="0">
            <a:off x="-2786939" y="9540136"/>
            <a:ext cx="23861879" cy="1715718"/>
            <a:chOff x="0" y="0"/>
            <a:chExt cx="6284610" cy="451876"/>
          </a:xfrm>
        </p:grpSpPr>
        <p:sp>
          <p:nvSpPr>
            <p:cNvPr name="Freeform 6" id="6"/>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7" id="7"/>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8" id="8"/>
          <p:cNvSpPr/>
          <p:nvPr/>
        </p:nvSpPr>
        <p:spPr>
          <a:xfrm flipH="false" flipV="false" rot="266846">
            <a:off x="16041684" y="5429808"/>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10629">
            <a:off x="1326844" y="8239439"/>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387305">
            <a:off x="16562188" y="8374896"/>
            <a:ext cx="2485981" cy="1889345"/>
          </a:xfrm>
          <a:custGeom>
            <a:avLst/>
            <a:gdLst/>
            <a:ahLst/>
            <a:cxnLst/>
            <a:rect r="r" b="b" t="t" l="l"/>
            <a:pathLst>
              <a:path h="1889345" w="2485981">
                <a:moveTo>
                  <a:pt x="0" y="0"/>
                </a:moveTo>
                <a:lnTo>
                  <a:pt x="2485981" y="0"/>
                </a:lnTo>
                <a:lnTo>
                  <a:pt x="2485981" y="1889345"/>
                </a:lnTo>
                <a:lnTo>
                  <a:pt x="0" y="18893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387305">
            <a:off x="-853929" y="4775071"/>
            <a:ext cx="2412096" cy="1833193"/>
          </a:xfrm>
          <a:custGeom>
            <a:avLst/>
            <a:gdLst/>
            <a:ahLst/>
            <a:cxnLst/>
            <a:rect r="r" b="b" t="t" l="l"/>
            <a:pathLst>
              <a:path h="1833193" w="2412096">
                <a:moveTo>
                  <a:pt x="0" y="0"/>
                </a:moveTo>
                <a:lnTo>
                  <a:pt x="2412097" y="0"/>
                </a:lnTo>
                <a:lnTo>
                  <a:pt x="2412097" y="1833193"/>
                </a:lnTo>
                <a:lnTo>
                  <a:pt x="0" y="183319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0" y="4274503"/>
            <a:ext cx="18288000" cy="3195319"/>
          </a:xfrm>
          <a:prstGeom prst="rect">
            <a:avLst/>
          </a:prstGeom>
        </p:spPr>
        <p:txBody>
          <a:bodyPr anchor="t" rtlCol="false" tIns="0" lIns="0" bIns="0" rIns="0">
            <a:spAutoFit/>
          </a:bodyPr>
          <a:lstStyle/>
          <a:p>
            <a:pPr algn="ctr">
              <a:lnSpc>
                <a:spcPts val="12880"/>
              </a:lnSpc>
            </a:pPr>
            <a:r>
              <a:rPr lang="en-US" sz="9200">
                <a:solidFill>
                  <a:srgbClr val="FFFFFF"/>
                </a:solidFill>
                <a:latin typeface="Canva Sans Bold"/>
                <a:ea typeface="Canva Sans Bold"/>
                <a:cs typeface="Canva Sans Bold"/>
                <a:sym typeface="Canva Sans Bold"/>
              </a:rPr>
              <a:t>COMPLETE ANALYSIS OF A PIZZA STORE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grpSp>
        <p:nvGrpSpPr>
          <p:cNvPr name="Group 2" id="2"/>
          <p:cNvGrpSpPr/>
          <p:nvPr/>
        </p:nvGrpSpPr>
        <p:grpSpPr>
          <a:xfrm rot="0">
            <a:off x="-2786939" y="9540136"/>
            <a:ext cx="23861879" cy="1715718"/>
            <a:chOff x="0" y="0"/>
            <a:chExt cx="6284610" cy="451876"/>
          </a:xfrm>
        </p:grpSpPr>
        <p:sp>
          <p:nvSpPr>
            <p:cNvPr name="Freeform 3" id="3"/>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4" id="4"/>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5" id="5"/>
          <p:cNvSpPr/>
          <p:nvPr/>
        </p:nvSpPr>
        <p:spPr>
          <a:xfrm flipH="false" flipV="false" rot="266846">
            <a:off x="16790406" y="6248593"/>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10629">
            <a:off x="372652" y="6161938"/>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234866">
            <a:off x="15417150" y="-1370111"/>
            <a:ext cx="4959028" cy="7452091"/>
          </a:xfrm>
          <a:custGeom>
            <a:avLst/>
            <a:gdLst/>
            <a:ahLst/>
            <a:cxnLst/>
            <a:rect r="r" b="b" t="t" l="l"/>
            <a:pathLst>
              <a:path h="7452091" w="4959028">
                <a:moveTo>
                  <a:pt x="0" y="0"/>
                </a:moveTo>
                <a:lnTo>
                  <a:pt x="4959028" y="0"/>
                </a:lnTo>
                <a:lnTo>
                  <a:pt x="4959028" y="7452091"/>
                </a:lnTo>
                <a:lnTo>
                  <a:pt x="0" y="7452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1143330">
            <a:off x="-1969602" y="-1370111"/>
            <a:ext cx="4959028" cy="7452091"/>
          </a:xfrm>
          <a:custGeom>
            <a:avLst/>
            <a:gdLst/>
            <a:ahLst/>
            <a:cxnLst/>
            <a:rect r="r" b="b" t="t" l="l"/>
            <a:pathLst>
              <a:path h="7452091" w="4959028">
                <a:moveTo>
                  <a:pt x="4959028" y="0"/>
                </a:moveTo>
                <a:lnTo>
                  <a:pt x="0" y="0"/>
                </a:lnTo>
                <a:lnTo>
                  <a:pt x="0" y="7452091"/>
                </a:lnTo>
                <a:lnTo>
                  <a:pt x="4959028" y="7452091"/>
                </a:lnTo>
                <a:lnTo>
                  <a:pt x="49590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387305">
            <a:off x="-733079" y="8225048"/>
            <a:ext cx="2485981" cy="1889345"/>
          </a:xfrm>
          <a:custGeom>
            <a:avLst/>
            <a:gdLst/>
            <a:ahLst/>
            <a:cxnLst/>
            <a:rect r="r" b="b" t="t" l="l"/>
            <a:pathLst>
              <a:path h="1889345" w="2485981">
                <a:moveTo>
                  <a:pt x="0" y="0"/>
                </a:moveTo>
                <a:lnTo>
                  <a:pt x="2485981" y="0"/>
                </a:lnTo>
                <a:lnTo>
                  <a:pt x="2485981" y="1889345"/>
                </a:lnTo>
                <a:lnTo>
                  <a:pt x="0" y="18893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87305">
            <a:off x="16981796" y="7736192"/>
            <a:ext cx="2216682" cy="1684679"/>
          </a:xfrm>
          <a:custGeom>
            <a:avLst/>
            <a:gdLst/>
            <a:ahLst/>
            <a:cxnLst/>
            <a:rect r="r" b="b" t="t" l="l"/>
            <a:pathLst>
              <a:path h="1684679" w="2216682">
                <a:moveTo>
                  <a:pt x="0" y="0"/>
                </a:moveTo>
                <a:lnTo>
                  <a:pt x="2216682" y="0"/>
                </a:lnTo>
                <a:lnTo>
                  <a:pt x="2216682" y="1684679"/>
                </a:lnTo>
                <a:lnTo>
                  <a:pt x="0" y="16846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4433558" y="159703"/>
            <a:ext cx="9167664" cy="1566544"/>
          </a:xfrm>
          <a:prstGeom prst="rect">
            <a:avLst/>
          </a:prstGeom>
        </p:spPr>
        <p:txBody>
          <a:bodyPr anchor="t" rtlCol="false" tIns="0" lIns="0" bIns="0" rIns="0">
            <a:spAutoFit/>
          </a:bodyPr>
          <a:lstStyle/>
          <a:p>
            <a:pPr algn="ctr">
              <a:lnSpc>
                <a:spcPts val="12880"/>
              </a:lnSpc>
            </a:pPr>
            <a:r>
              <a:rPr lang="en-US" sz="9200">
                <a:solidFill>
                  <a:srgbClr val="FFFFFF"/>
                </a:solidFill>
                <a:latin typeface="Canva Sans Bold"/>
                <a:ea typeface="Canva Sans Bold"/>
                <a:cs typeface="Canva Sans Bold"/>
                <a:sym typeface="Canva Sans Bold"/>
              </a:rPr>
              <a:t>INTRODUCTION</a:t>
            </a:r>
          </a:p>
        </p:txBody>
      </p:sp>
      <p:sp>
        <p:nvSpPr>
          <p:cNvPr name="TextBox 12" id="12"/>
          <p:cNvSpPr txBox="true"/>
          <p:nvPr/>
        </p:nvSpPr>
        <p:spPr>
          <a:xfrm rot="0">
            <a:off x="2095884" y="2730047"/>
            <a:ext cx="14410705" cy="5758664"/>
          </a:xfrm>
          <a:prstGeom prst="rect">
            <a:avLst/>
          </a:prstGeom>
        </p:spPr>
        <p:txBody>
          <a:bodyPr anchor="t" rtlCol="false" tIns="0" lIns="0" bIns="0" rIns="0">
            <a:spAutoFit/>
          </a:bodyPr>
          <a:lstStyle/>
          <a:p>
            <a:pPr algn="l">
              <a:lnSpc>
                <a:spcPts val="3578"/>
              </a:lnSpc>
            </a:pPr>
            <a:r>
              <a:rPr lang="en-US" sz="2555">
                <a:solidFill>
                  <a:srgbClr val="FFFFFF"/>
                </a:solidFill>
                <a:latin typeface="Canva Sans"/>
                <a:ea typeface="Canva Sans"/>
                <a:cs typeface="Canva Sans"/>
                <a:sym typeface="Canva Sans"/>
              </a:rPr>
              <a:t>The pizza industry is highly competitive, with customers expecting high-quality products, fast service, and a seamless ordering experience. In such a dynamic market, pizza stores need to continually assess their performance to maintain and grow their customer base. This project aims to analyze various aspects of a pizza store's operations, including sales patterns, customer preferences, and operational efficiency, to identify opportunities for improvement and strategic growth.</a:t>
            </a:r>
          </a:p>
          <a:p>
            <a:pPr algn="l">
              <a:lnSpc>
                <a:spcPts val="3578"/>
              </a:lnSpc>
            </a:pPr>
            <a:r>
              <a:rPr lang="en-US" sz="2555">
                <a:solidFill>
                  <a:srgbClr val="FFFFFF"/>
                </a:solidFill>
                <a:latin typeface="Canva Sans"/>
                <a:ea typeface="Canva Sans"/>
                <a:cs typeface="Canva Sans"/>
                <a:sym typeface="Canva Sans"/>
              </a:rPr>
              <a:t>The analysis will focus on key performance indicators such as sales trends, popular menu items, and customer demographics.</a:t>
            </a:r>
          </a:p>
          <a:p>
            <a:pPr algn="l">
              <a:lnSpc>
                <a:spcPts val="3578"/>
              </a:lnSpc>
            </a:pPr>
            <a:r>
              <a:rPr lang="en-US" sz="2555">
                <a:solidFill>
                  <a:srgbClr val="FFFFFF"/>
                </a:solidFill>
                <a:latin typeface="Canva Sans"/>
                <a:ea typeface="Canva Sans"/>
                <a:cs typeface="Canva Sans"/>
                <a:sym typeface="Canva Sans"/>
              </a:rPr>
              <a:t>To conduct this analysis, we will utilize data analytics tools and techniques, including sales data analysis, customer details and pizza types. The findings from this analysis will provide actionable recommendations for optimizing the pizza store's operations and enhancing customer satisfaction.</a:t>
            </a:r>
          </a:p>
          <a:p>
            <a:pPr algn="ctr">
              <a:lnSpc>
                <a:spcPts val="3158"/>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52168" y="-798680"/>
            <a:ext cx="8664725" cy="8255120"/>
          </a:xfrm>
          <a:custGeom>
            <a:avLst/>
            <a:gdLst/>
            <a:ahLst/>
            <a:cxnLst/>
            <a:rect r="r" b="b" t="t" l="l"/>
            <a:pathLst>
              <a:path h="8255120" w="8664725">
                <a:moveTo>
                  <a:pt x="0" y="0"/>
                </a:moveTo>
                <a:lnTo>
                  <a:pt x="8664725" y="0"/>
                </a:lnTo>
                <a:lnTo>
                  <a:pt x="8664725" y="8255120"/>
                </a:lnTo>
                <a:lnTo>
                  <a:pt x="0" y="82551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31782" y="5630057"/>
            <a:ext cx="3208467" cy="810864"/>
            <a:chOff x="0" y="0"/>
            <a:chExt cx="699488" cy="176779"/>
          </a:xfrm>
        </p:grpSpPr>
        <p:sp>
          <p:nvSpPr>
            <p:cNvPr name="Freeform 4" id="4"/>
            <p:cNvSpPr/>
            <p:nvPr/>
          </p:nvSpPr>
          <p:spPr>
            <a:xfrm flipH="false" flipV="false" rot="0">
              <a:off x="0" y="0"/>
              <a:ext cx="699488" cy="176779"/>
            </a:xfrm>
            <a:custGeom>
              <a:avLst/>
              <a:gdLst/>
              <a:ahLst/>
              <a:cxnLst/>
              <a:rect r="r" b="b" t="t" l="l"/>
              <a:pathLst>
                <a:path h="176779" w="699488">
                  <a:moveTo>
                    <a:pt x="19304" y="0"/>
                  </a:moveTo>
                  <a:lnTo>
                    <a:pt x="680184" y="0"/>
                  </a:lnTo>
                  <a:cubicBezTo>
                    <a:pt x="690845" y="0"/>
                    <a:pt x="699488" y="8643"/>
                    <a:pt x="699488" y="19304"/>
                  </a:cubicBezTo>
                  <a:lnTo>
                    <a:pt x="699488" y="157475"/>
                  </a:lnTo>
                  <a:cubicBezTo>
                    <a:pt x="699488" y="162595"/>
                    <a:pt x="697454" y="167505"/>
                    <a:pt x="693834" y="171125"/>
                  </a:cubicBezTo>
                  <a:cubicBezTo>
                    <a:pt x="690214" y="174745"/>
                    <a:pt x="685304" y="176779"/>
                    <a:pt x="680184" y="176779"/>
                  </a:cubicBezTo>
                  <a:lnTo>
                    <a:pt x="19304" y="176779"/>
                  </a:lnTo>
                  <a:cubicBezTo>
                    <a:pt x="14184" y="176779"/>
                    <a:pt x="9274" y="174745"/>
                    <a:pt x="5654" y="171125"/>
                  </a:cubicBezTo>
                  <a:cubicBezTo>
                    <a:pt x="2034" y="167505"/>
                    <a:pt x="0" y="162595"/>
                    <a:pt x="0" y="157475"/>
                  </a:cubicBezTo>
                  <a:lnTo>
                    <a:pt x="0" y="19304"/>
                  </a:lnTo>
                  <a:cubicBezTo>
                    <a:pt x="0" y="14184"/>
                    <a:pt x="2034" y="9274"/>
                    <a:pt x="5654" y="5654"/>
                  </a:cubicBezTo>
                  <a:cubicBezTo>
                    <a:pt x="9274" y="2034"/>
                    <a:pt x="14184" y="0"/>
                    <a:pt x="19304" y="0"/>
                  </a:cubicBezTo>
                  <a:close/>
                </a:path>
              </a:pathLst>
            </a:custGeom>
            <a:solidFill>
              <a:srgbClr val="F8B31F"/>
            </a:solidFill>
          </p:spPr>
        </p:sp>
        <p:sp>
          <p:nvSpPr>
            <p:cNvPr name="TextBox 5" id="5"/>
            <p:cNvSpPr txBox="true"/>
            <p:nvPr/>
          </p:nvSpPr>
          <p:spPr>
            <a:xfrm>
              <a:off x="0" y="-66675"/>
              <a:ext cx="699488" cy="243454"/>
            </a:xfrm>
            <a:prstGeom prst="rect">
              <a:avLst/>
            </a:prstGeom>
          </p:spPr>
          <p:txBody>
            <a:bodyPr anchor="ctr" rtlCol="false" tIns="50800" lIns="50800" bIns="50800" rIns="50800"/>
            <a:lstStyle/>
            <a:p>
              <a:pPr algn="ctr">
                <a:lnSpc>
                  <a:spcPts val="2800"/>
                </a:lnSpc>
              </a:pPr>
              <a:r>
                <a:rPr lang="en-US" sz="2000">
                  <a:solidFill>
                    <a:srgbClr val="100F0D"/>
                  </a:solidFill>
                  <a:latin typeface="Poppins Bold"/>
                  <a:ea typeface="Poppins Bold"/>
                  <a:cs typeface="Poppins Bold"/>
                  <a:sym typeface="Poppins Bold"/>
                </a:rPr>
                <a:t>orders</a:t>
              </a:r>
            </a:p>
          </p:txBody>
        </p:sp>
      </p:grpSp>
      <p:grpSp>
        <p:nvGrpSpPr>
          <p:cNvPr name="Group 6" id="6"/>
          <p:cNvGrpSpPr/>
          <p:nvPr/>
        </p:nvGrpSpPr>
        <p:grpSpPr>
          <a:xfrm rot="0">
            <a:off x="13656475" y="5630057"/>
            <a:ext cx="3208467" cy="810864"/>
            <a:chOff x="0" y="0"/>
            <a:chExt cx="699488" cy="176779"/>
          </a:xfrm>
        </p:grpSpPr>
        <p:sp>
          <p:nvSpPr>
            <p:cNvPr name="Freeform 7" id="7"/>
            <p:cNvSpPr/>
            <p:nvPr/>
          </p:nvSpPr>
          <p:spPr>
            <a:xfrm flipH="false" flipV="false" rot="0">
              <a:off x="0" y="0"/>
              <a:ext cx="699488" cy="176779"/>
            </a:xfrm>
            <a:custGeom>
              <a:avLst/>
              <a:gdLst/>
              <a:ahLst/>
              <a:cxnLst/>
              <a:rect r="r" b="b" t="t" l="l"/>
              <a:pathLst>
                <a:path h="176779" w="699488">
                  <a:moveTo>
                    <a:pt x="19304" y="0"/>
                  </a:moveTo>
                  <a:lnTo>
                    <a:pt x="680184" y="0"/>
                  </a:lnTo>
                  <a:cubicBezTo>
                    <a:pt x="690845" y="0"/>
                    <a:pt x="699488" y="8643"/>
                    <a:pt x="699488" y="19304"/>
                  </a:cubicBezTo>
                  <a:lnTo>
                    <a:pt x="699488" y="157475"/>
                  </a:lnTo>
                  <a:cubicBezTo>
                    <a:pt x="699488" y="162595"/>
                    <a:pt x="697454" y="167505"/>
                    <a:pt x="693834" y="171125"/>
                  </a:cubicBezTo>
                  <a:cubicBezTo>
                    <a:pt x="690214" y="174745"/>
                    <a:pt x="685304" y="176779"/>
                    <a:pt x="680184" y="176779"/>
                  </a:cubicBezTo>
                  <a:lnTo>
                    <a:pt x="19304" y="176779"/>
                  </a:lnTo>
                  <a:cubicBezTo>
                    <a:pt x="14184" y="176779"/>
                    <a:pt x="9274" y="174745"/>
                    <a:pt x="5654" y="171125"/>
                  </a:cubicBezTo>
                  <a:cubicBezTo>
                    <a:pt x="2034" y="167505"/>
                    <a:pt x="0" y="162595"/>
                    <a:pt x="0" y="157475"/>
                  </a:cubicBezTo>
                  <a:lnTo>
                    <a:pt x="0" y="19304"/>
                  </a:lnTo>
                  <a:cubicBezTo>
                    <a:pt x="0" y="14184"/>
                    <a:pt x="2034" y="9274"/>
                    <a:pt x="5654" y="5654"/>
                  </a:cubicBezTo>
                  <a:cubicBezTo>
                    <a:pt x="9274" y="2034"/>
                    <a:pt x="14184" y="0"/>
                    <a:pt x="19304" y="0"/>
                  </a:cubicBezTo>
                  <a:close/>
                </a:path>
              </a:pathLst>
            </a:custGeom>
            <a:solidFill>
              <a:srgbClr val="F8B31F"/>
            </a:solidFill>
          </p:spPr>
        </p:sp>
        <p:sp>
          <p:nvSpPr>
            <p:cNvPr name="TextBox 8" id="8"/>
            <p:cNvSpPr txBox="true"/>
            <p:nvPr/>
          </p:nvSpPr>
          <p:spPr>
            <a:xfrm>
              <a:off x="0" y="-66675"/>
              <a:ext cx="699488" cy="243454"/>
            </a:xfrm>
            <a:prstGeom prst="rect">
              <a:avLst/>
            </a:prstGeom>
          </p:spPr>
          <p:txBody>
            <a:bodyPr anchor="ctr" rtlCol="false" tIns="50800" lIns="50800" bIns="50800" rIns="50800"/>
            <a:lstStyle/>
            <a:p>
              <a:pPr algn="ctr">
                <a:lnSpc>
                  <a:spcPts val="2800"/>
                </a:lnSpc>
              </a:pPr>
              <a:r>
                <a:rPr lang="en-US" sz="2000">
                  <a:solidFill>
                    <a:srgbClr val="100F0D"/>
                  </a:solidFill>
                  <a:latin typeface="Poppins Bold"/>
                  <a:ea typeface="Poppins Bold"/>
                  <a:cs typeface="Poppins Bold"/>
                  <a:sym typeface="Poppins Bold"/>
                </a:rPr>
                <a:t>order_details</a:t>
              </a:r>
            </a:p>
          </p:txBody>
        </p:sp>
      </p:grpSp>
      <p:grpSp>
        <p:nvGrpSpPr>
          <p:cNvPr name="Group 9" id="9"/>
          <p:cNvGrpSpPr/>
          <p:nvPr/>
        </p:nvGrpSpPr>
        <p:grpSpPr>
          <a:xfrm rot="0">
            <a:off x="10031782" y="6748030"/>
            <a:ext cx="3208467" cy="810864"/>
            <a:chOff x="0" y="0"/>
            <a:chExt cx="699488" cy="176779"/>
          </a:xfrm>
        </p:grpSpPr>
        <p:sp>
          <p:nvSpPr>
            <p:cNvPr name="Freeform 10" id="10"/>
            <p:cNvSpPr/>
            <p:nvPr/>
          </p:nvSpPr>
          <p:spPr>
            <a:xfrm flipH="false" flipV="false" rot="0">
              <a:off x="0" y="0"/>
              <a:ext cx="699488" cy="176779"/>
            </a:xfrm>
            <a:custGeom>
              <a:avLst/>
              <a:gdLst/>
              <a:ahLst/>
              <a:cxnLst/>
              <a:rect r="r" b="b" t="t" l="l"/>
              <a:pathLst>
                <a:path h="176779" w="699488">
                  <a:moveTo>
                    <a:pt x="19304" y="0"/>
                  </a:moveTo>
                  <a:lnTo>
                    <a:pt x="680184" y="0"/>
                  </a:lnTo>
                  <a:cubicBezTo>
                    <a:pt x="690845" y="0"/>
                    <a:pt x="699488" y="8643"/>
                    <a:pt x="699488" y="19304"/>
                  </a:cubicBezTo>
                  <a:lnTo>
                    <a:pt x="699488" y="157475"/>
                  </a:lnTo>
                  <a:cubicBezTo>
                    <a:pt x="699488" y="162595"/>
                    <a:pt x="697454" y="167505"/>
                    <a:pt x="693834" y="171125"/>
                  </a:cubicBezTo>
                  <a:cubicBezTo>
                    <a:pt x="690214" y="174745"/>
                    <a:pt x="685304" y="176779"/>
                    <a:pt x="680184" y="176779"/>
                  </a:cubicBezTo>
                  <a:lnTo>
                    <a:pt x="19304" y="176779"/>
                  </a:lnTo>
                  <a:cubicBezTo>
                    <a:pt x="14184" y="176779"/>
                    <a:pt x="9274" y="174745"/>
                    <a:pt x="5654" y="171125"/>
                  </a:cubicBezTo>
                  <a:cubicBezTo>
                    <a:pt x="2034" y="167505"/>
                    <a:pt x="0" y="162595"/>
                    <a:pt x="0" y="157475"/>
                  </a:cubicBezTo>
                  <a:lnTo>
                    <a:pt x="0" y="19304"/>
                  </a:lnTo>
                  <a:cubicBezTo>
                    <a:pt x="0" y="14184"/>
                    <a:pt x="2034" y="9274"/>
                    <a:pt x="5654" y="5654"/>
                  </a:cubicBezTo>
                  <a:cubicBezTo>
                    <a:pt x="9274" y="2034"/>
                    <a:pt x="14184" y="0"/>
                    <a:pt x="19304" y="0"/>
                  </a:cubicBezTo>
                  <a:close/>
                </a:path>
              </a:pathLst>
            </a:custGeom>
            <a:solidFill>
              <a:srgbClr val="F8B31F"/>
            </a:solidFill>
          </p:spPr>
        </p:sp>
        <p:sp>
          <p:nvSpPr>
            <p:cNvPr name="TextBox 11" id="11"/>
            <p:cNvSpPr txBox="true"/>
            <p:nvPr/>
          </p:nvSpPr>
          <p:spPr>
            <a:xfrm>
              <a:off x="0" y="-66675"/>
              <a:ext cx="699488" cy="243454"/>
            </a:xfrm>
            <a:prstGeom prst="rect">
              <a:avLst/>
            </a:prstGeom>
          </p:spPr>
          <p:txBody>
            <a:bodyPr anchor="ctr" rtlCol="false" tIns="50800" lIns="50800" bIns="50800" rIns="50800"/>
            <a:lstStyle/>
            <a:p>
              <a:pPr algn="ctr">
                <a:lnSpc>
                  <a:spcPts val="2800"/>
                </a:lnSpc>
              </a:pPr>
              <a:r>
                <a:rPr lang="en-US" sz="2000">
                  <a:solidFill>
                    <a:srgbClr val="100F0D"/>
                  </a:solidFill>
                  <a:latin typeface="Poppins Bold"/>
                  <a:ea typeface="Poppins Bold"/>
                  <a:cs typeface="Poppins Bold"/>
                  <a:sym typeface="Poppins Bold"/>
                </a:rPr>
                <a:t>pizza_types</a:t>
              </a:r>
            </a:p>
          </p:txBody>
        </p:sp>
      </p:grpSp>
      <p:grpSp>
        <p:nvGrpSpPr>
          <p:cNvPr name="Group 12" id="12"/>
          <p:cNvGrpSpPr/>
          <p:nvPr/>
        </p:nvGrpSpPr>
        <p:grpSpPr>
          <a:xfrm rot="0">
            <a:off x="13656475" y="6746875"/>
            <a:ext cx="3208467" cy="810864"/>
            <a:chOff x="0" y="0"/>
            <a:chExt cx="699488" cy="176779"/>
          </a:xfrm>
        </p:grpSpPr>
        <p:sp>
          <p:nvSpPr>
            <p:cNvPr name="Freeform 13" id="13"/>
            <p:cNvSpPr/>
            <p:nvPr/>
          </p:nvSpPr>
          <p:spPr>
            <a:xfrm flipH="false" flipV="false" rot="0">
              <a:off x="0" y="0"/>
              <a:ext cx="699488" cy="176779"/>
            </a:xfrm>
            <a:custGeom>
              <a:avLst/>
              <a:gdLst/>
              <a:ahLst/>
              <a:cxnLst/>
              <a:rect r="r" b="b" t="t" l="l"/>
              <a:pathLst>
                <a:path h="176779" w="699488">
                  <a:moveTo>
                    <a:pt x="19304" y="0"/>
                  </a:moveTo>
                  <a:lnTo>
                    <a:pt x="680184" y="0"/>
                  </a:lnTo>
                  <a:cubicBezTo>
                    <a:pt x="690845" y="0"/>
                    <a:pt x="699488" y="8643"/>
                    <a:pt x="699488" y="19304"/>
                  </a:cubicBezTo>
                  <a:lnTo>
                    <a:pt x="699488" y="157475"/>
                  </a:lnTo>
                  <a:cubicBezTo>
                    <a:pt x="699488" y="162595"/>
                    <a:pt x="697454" y="167505"/>
                    <a:pt x="693834" y="171125"/>
                  </a:cubicBezTo>
                  <a:cubicBezTo>
                    <a:pt x="690214" y="174745"/>
                    <a:pt x="685304" y="176779"/>
                    <a:pt x="680184" y="176779"/>
                  </a:cubicBezTo>
                  <a:lnTo>
                    <a:pt x="19304" y="176779"/>
                  </a:lnTo>
                  <a:cubicBezTo>
                    <a:pt x="14184" y="176779"/>
                    <a:pt x="9274" y="174745"/>
                    <a:pt x="5654" y="171125"/>
                  </a:cubicBezTo>
                  <a:cubicBezTo>
                    <a:pt x="2034" y="167505"/>
                    <a:pt x="0" y="162595"/>
                    <a:pt x="0" y="157475"/>
                  </a:cubicBezTo>
                  <a:lnTo>
                    <a:pt x="0" y="19304"/>
                  </a:lnTo>
                  <a:cubicBezTo>
                    <a:pt x="0" y="14184"/>
                    <a:pt x="2034" y="9274"/>
                    <a:pt x="5654" y="5654"/>
                  </a:cubicBezTo>
                  <a:cubicBezTo>
                    <a:pt x="9274" y="2034"/>
                    <a:pt x="14184" y="0"/>
                    <a:pt x="19304" y="0"/>
                  </a:cubicBezTo>
                  <a:close/>
                </a:path>
              </a:pathLst>
            </a:custGeom>
            <a:solidFill>
              <a:srgbClr val="F8B31F"/>
            </a:solidFill>
          </p:spPr>
        </p:sp>
        <p:sp>
          <p:nvSpPr>
            <p:cNvPr name="TextBox 14" id="14"/>
            <p:cNvSpPr txBox="true"/>
            <p:nvPr/>
          </p:nvSpPr>
          <p:spPr>
            <a:xfrm>
              <a:off x="0" y="-66675"/>
              <a:ext cx="699488" cy="243454"/>
            </a:xfrm>
            <a:prstGeom prst="rect">
              <a:avLst/>
            </a:prstGeom>
          </p:spPr>
          <p:txBody>
            <a:bodyPr anchor="ctr" rtlCol="false" tIns="50800" lIns="50800" bIns="50800" rIns="50800"/>
            <a:lstStyle/>
            <a:p>
              <a:pPr algn="ctr">
                <a:lnSpc>
                  <a:spcPts val="2800"/>
                </a:lnSpc>
              </a:pPr>
              <a:r>
                <a:rPr lang="en-US" sz="2000">
                  <a:solidFill>
                    <a:srgbClr val="100F0D"/>
                  </a:solidFill>
                  <a:latin typeface="Poppins Bold"/>
                  <a:ea typeface="Poppins Bold"/>
                  <a:cs typeface="Poppins Bold"/>
                  <a:sym typeface="Poppins Bold"/>
                </a:rPr>
                <a:t>pizzas</a:t>
              </a:r>
            </a:p>
          </p:txBody>
        </p:sp>
      </p:grpSp>
      <p:grpSp>
        <p:nvGrpSpPr>
          <p:cNvPr name="Group 15" id="15"/>
          <p:cNvGrpSpPr/>
          <p:nvPr/>
        </p:nvGrpSpPr>
        <p:grpSpPr>
          <a:xfrm rot="0">
            <a:off x="-2786939" y="9540136"/>
            <a:ext cx="23861879" cy="1715718"/>
            <a:chOff x="0" y="0"/>
            <a:chExt cx="6284610" cy="451876"/>
          </a:xfrm>
        </p:grpSpPr>
        <p:sp>
          <p:nvSpPr>
            <p:cNvPr name="Freeform 16" id="16"/>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17" id="17"/>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18" id="18"/>
          <p:cNvSpPr/>
          <p:nvPr/>
        </p:nvSpPr>
        <p:spPr>
          <a:xfrm flipH="false" flipV="false" rot="0">
            <a:off x="526424" y="1251176"/>
            <a:ext cx="7335729" cy="9722051"/>
          </a:xfrm>
          <a:custGeom>
            <a:avLst/>
            <a:gdLst/>
            <a:ahLst/>
            <a:cxnLst/>
            <a:rect r="r" b="b" t="t" l="l"/>
            <a:pathLst>
              <a:path h="9722051" w="7335729">
                <a:moveTo>
                  <a:pt x="0" y="0"/>
                </a:moveTo>
                <a:lnTo>
                  <a:pt x="7335729" y="0"/>
                </a:lnTo>
                <a:lnTo>
                  <a:pt x="7335729" y="9722051"/>
                </a:lnTo>
                <a:lnTo>
                  <a:pt x="0" y="97220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4194289" y="3859973"/>
            <a:ext cx="5597411" cy="7192935"/>
          </a:xfrm>
          <a:custGeom>
            <a:avLst/>
            <a:gdLst/>
            <a:ahLst/>
            <a:cxnLst/>
            <a:rect r="r" b="b" t="t" l="l"/>
            <a:pathLst>
              <a:path h="7192935" w="5597411">
                <a:moveTo>
                  <a:pt x="0" y="0"/>
                </a:moveTo>
                <a:lnTo>
                  <a:pt x="5597411" y="0"/>
                </a:lnTo>
                <a:lnTo>
                  <a:pt x="5597411" y="7192935"/>
                </a:lnTo>
                <a:lnTo>
                  <a:pt x="0" y="71929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0031782" y="2416580"/>
            <a:ext cx="7464470" cy="2847012"/>
          </a:xfrm>
          <a:prstGeom prst="rect">
            <a:avLst/>
          </a:prstGeom>
        </p:spPr>
        <p:txBody>
          <a:bodyPr anchor="t" rtlCol="false" tIns="0" lIns="0" bIns="0" rIns="0">
            <a:spAutoFit/>
          </a:bodyPr>
          <a:lstStyle/>
          <a:p>
            <a:pPr algn="l">
              <a:lnSpc>
                <a:spcPts val="10764"/>
              </a:lnSpc>
            </a:pPr>
            <a:r>
              <a:rPr lang="en-US" sz="12094">
                <a:solidFill>
                  <a:srgbClr val="FFFFFF"/>
                </a:solidFill>
                <a:latin typeface="Kooperativ"/>
                <a:ea typeface="Kooperativ"/>
                <a:cs typeface="Kooperativ"/>
                <a:sym typeface="Kooperativ"/>
              </a:rPr>
              <a:t>DATASETS AVAILABLE </a:t>
            </a:r>
          </a:p>
        </p:txBody>
      </p:sp>
      <p:sp>
        <p:nvSpPr>
          <p:cNvPr name="Freeform 21" id="21"/>
          <p:cNvSpPr/>
          <p:nvPr/>
        </p:nvSpPr>
        <p:spPr>
          <a:xfrm flipH="false" flipV="false" rot="266846">
            <a:off x="8618614" y="1259904"/>
            <a:ext cx="1050773" cy="1050773"/>
          </a:xfrm>
          <a:custGeom>
            <a:avLst/>
            <a:gdLst/>
            <a:ahLst/>
            <a:cxnLst/>
            <a:rect r="r" b="b" t="t" l="l"/>
            <a:pathLst>
              <a:path h="1050773" w="1050773">
                <a:moveTo>
                  <a:pt x="0" y="0"/>
                </a:moveTo>
                <a:lnTo>
                  <a:pt x="1050772" y="0"/>
                </a:lnTo>
                <a:lnTo>
                  <a:pt x="1050772" y="1050773"/>
                </a:lnTo>
                <a:lnTo>
                  <a:pt x="0" y="10507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110629">
            <a:off x="15835807" y="7880326"/>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387305">
            <a:off x="468963" y="4210695"/>
            <a:ext cx="1744110" cy="1325524"/>
          </a:xfrm>
          <a:custGeom>
            <a:avLst/>
            <a:gdLst/>
            <a:ahLst/>
            <a:cxnLst/>
            <a:rect r="r" b="b" t="t" l="l"/>
            <a:pathLst>
              <a:path h="1325524" w="1744110">
                <a:moveTo>
                  <a:pt x="0" y="0"/>
                </a:moveTo>
                <a:lnTo>
                  <a:pt x="1744110" y="0"/>
                </a:lnTo>
                <a:lnTo>
                  <a:pt x="1744110" y="1325523"/>
                </a:lnTo>
                <a:lnTo>
                  <a:pt x="0" y="13255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grpSp>
        <p:nvGrpSpPr>
          <p:cNvPr name="Group 2" id="2"/>
          <p:cNvGrpSpPr/>
          <p:nvPr/>
        </p:nvGrpSpPr>
        <p:grpSpPr>
          <a:xfrm rot="0">
            <a:off x="-2786939" y="9540136"/>
            <a:ext cx="23861879" cy="1715718"/>
            <a:chOff x="0" y="0"/>
            <a:chExt cx="6284610" cy="451876"/>
          </a:xfrm>
        </p:grpSpPr>
        <p:sp>
          <p:nvSpPr>
            <p:cNvPr name="Freeform 3" id="3"/>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4" id="4"/>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5" id="5"/>
          <p:cNvSpPr/>
          <p:nvPr/>
        </p:nvSpPr>
        <p:spPr>
          <a:xfrm flipH="false" flipV="false" rot="266846">
            <a:off x="16790406" y="6248593"/>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10629">
            <a:off x="372652" y="6161938"/>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299490">
            <a:off x="15808486" y="-1659617"/>
            <a:ext cx="4959028" cy="7452091"/>
          </a:xfrm>
          <a:custGeom>
            <a:avLst/>
            <a:gdLst/>
            <a:ahLst/>
            <a:cxnLst/>
            <a:rect r="r" b="b" t="t" l="l"/>
            <a:pathLst>
              <a:path h="7452091" w="4959028">
                <a:moveTo>
                  <a:pt x="0" y="0"/>
                </a:moveTo>
                <a:lnTo>
                  <a:pt x="4959028" y="0"/>
                </a:lnTo>
                <a:lnTo>
                  <a:pt x="4959028" y="7452091"/>
                </a:lnTo>
                <a:lnTo>
                  <a:pt x="0" y="7452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273505">
            <a:off x="-2352904" y="-863386"/>
            <a:ext cx="4959028" cy="7452091"/>
          </a:xfrm>
          <a:custGeom>
            <a:avLst/>
            <a:gdLst/>
            <a:ahLst/>
            <a:cxnLst/>
            <a:rect r="r" b="b" t="t" l="l"/>
            <a:pathLst>
              <a:path h="7452091" w="4959028">
                <a:moveTo>
                  <a:pt x="4959028" y="0"/>
                </a:moveTo>
                <a:lnTo>
                  <a:pt x="0" y="0"/>
                </a:lnTo>
                <a:lnTo>
                  <a:pt x="0" y="7452091"/>
                </a:lnTo>
                <a:lnTo>
                  <a:pt x="4959028" y="7452091"/>
                </a:lnTo>
                <a:lnTo>
                  <a:pt x="49590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387305">
            <a:off x="-733079" y="8225048"/>
            <a:ext cx="2485981" cy="1889345"/>
          </a:xfrm>
          <a:custGeom>
            <a:avLst/>
            <a:gdLst/>
            <a:ahLst/>
            <a:cxnLst/>
            <a:rect r="r" b="b" t="t" l="l"/>
            <a:pathLst>
              <a:path h="1889345" w="2485981">
                <a:moveTo>
                  <a:pt x="0" y="0"/>
                </a:moveTo>
                <a:lnTo>
                  <a:pt x="2485981" y="0"/>
                </a:lnTo>
                <a:lnTo>
                  <a:pt x="2485981" y="1889345"/>
                </a:lnTo>
                <a:lnTo>
                  <a:pt x="0" y="18893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87305">
            <a:off x="16981796" y="7736192"/>
            <a:ext cx="2216682" cy="1684679"/>
          </a:xfrm>
          <a:custGeom>
            <a:avLst/>
            <a:gdLst/>
            <a:ahLst/>
            <a:cxnLst/>
            <a:rect r="r" b="b" t="t" l="l"/>
            <a:pathLst>
              <a:path h="1684679" w="2216682">
                <a:moveTo>
                  <a:pt x="0" y="0"/>
                </a:moveTo>
                <a:lnTo>
                  <a:pt x="2216682" y="0"/>
                </a:lnTo>
                <a:lnTo>
                  <a:pt x="2216682" y="1684679"/>
                </a:lnTo>
                <a:lnTo>
                  <a:pt x="0" y="16846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440057" y="109116"/>
            <a:ext cx="15977372" cy="2635874"/>
          </a:xfrm>
          <a:prstGeom prst="rect">
            <a:avLst/>
          </a:prstGeom>
        </p:spPr>
        <p:txBody>
          <a:bodyPr anchor="t" rtlCol="false" tIns="0" lIns="0" bIns="0" rIns="0">
            <a:spAutoFit/>
          </a:bodyPr>
          <a:lstStyle/>
          <a:p>
            <a:pPr algn="ctr">
              <a:lnSpc>
                <a:spcPts val="10640"/>
              </a:lnSpc>
            </a:pPr>
            <a:r>
              <a:rPr lang="en-US" sz="7600">
                <a:solidFill>
                  <a:srgbClr val="FFFFFF"/>
                </a:solidFill>
                <a:latin typeface="Canva Sans Bold"/>
                <a:ea typeface="Canva Sans Bold"/>
                <a:cs typeface="Canva Sans Bold"/>
                <a:sym typeface="Canva Sans Bold"/>
              </a:rPr>
              <a:t>QUESTIONS/STAKEHOLDERS DEMAND</a:t>
            </a:r>
          </a:p>
        </p:txBody>
      </p:sp>
      <p:sp>
        <p:nvSpPr>
          <p:cNvPr name="TextBox 12" id="12"/>
          <p:cNvSpPr txBox="true"/>
          <p:nvPr/>
        </p:nvSpPr>
        <p:spPr>
          <a:xfrm rot="0">
            <a:off x="2189228" y="2931248"/>
            <a:ext cx="14704895" cy="6585728"/>
          </a:xfrm>
          <a:prstGeom prst="rect">
            <a:avLst/>
          </a:prstGeom>
        </p:spPr>
        <p:txBody>
          <a:bodyPr anchor="t" rtlCol="false" tIns="0" lIns="0" bIns="0" rIns="0">
            <a:spAutoFit/>
          </a:bodyPr>
          <a:lstStyle/>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Retrieve the total number of orders placed.</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Calculate the total revenue generated from pizza sales.</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Identify the highest-priced pizza.</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Identify the most common pizza size ordered.</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List the top 5 most ordered pizza types along with their quantities.</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Join the necessary tables to find the total quantity of each pizza category ordered.</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Determine the distribution of orders by hour of the day.</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Join relevant tables to find the category-wise distribution of pizzas.</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Group the orders by date and calculate the average number of pizzas ordered per day.</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Determine the top 3 most ordered pizza types based on revenue.</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Calculate the percentage contribution of each pizza type to total revenue.</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Analyze the cumulative revenue generated over time.</a:t>
            </a:r>
          </a:p>
          <a:p>
            <a:pPr algn="l" marL="533140" indent="-266570" lvl="1">
              <a:lnSpc>
                <a:spcPts val="3457"/>
              </a:lnSpc>
              <a:buFont typeface="Arial"/>
              <a:buChar char="•"/>
            </a:pPr>
            <a:r>
              <a:rPr lang="en-US" sz="2469">
                <a:solidFill>
                  <a:srgbClr val="FFFFFF"/>
                </a:solidFill>
                <a:latin typeface="Poppins Medium"/>
                <a:ea typeface="Poppins Medium"/>
                <a:cs typeface="Poppins Medium"/>
                <a:sym typeface="Poppins Medium"/>
              </a:rPr>
              <a:t>Determine the top 3 most ordered pizza types based on revenue for each pizza category.</a:t>
            </a:r>
          </a:p>
          <a:p>
            <a:pPr algn="ctr">
              <a:lnSpc>
                <a:spcPts val="3457"/>
              </a:lnSpc>
            </a:pPr>
          </a:p>
          <a:p>
            <a:pPr algn="just">
              <a:lnSpc>
                <a:spcPts val="3457"/>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15421415" y="-3389585"/>
            <a:ext cx="8716258" cy="8229600"/>
          </a:xfrm>
          <a:custGeom>
            <a:avLst/>
            <a:gdLst/>
            <a:ahLst/>
            <a:cxnLst/>
            <a:rect r="r" b="b" t="t" l="l"/>
            <a:pathLst>
              <a:path h="8229600" w="8716258">
                <a:moveTo>
                  <a:pt x="0" y="0"/>
                </a:moveTo>
                <a:lnTo>
                  <a:pt x="8716258" y="0"/>
                </a:lnTo>
                <a:lnTo>
                  <a:pt x="8716258"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5932723" y="-2898971"/>
            <a:ext cx="8716258" cy="8229600"/>
          </a:xfrm>
          <a:custGeom>
            <a:avLst/>
            <a:gdLst/>
            <a:ahLst/>
            <a:cxnLst/>
            <a:rect r="r" b="b" t="t" l="l"/>
            <a:pathLst>
              <a:path h="8229600" w="8716258">
                <a:moveTo>
                  <a:pt x="0" y="0"/>
                </a:moveTo>
                <a:lnTo>
                  <a:pt x="8716258" y="0"/>
                </a:lnTo>
                <a:lnTo>
                  <a:pt x="8716258" y="8229600"/>
                </a:lnTo>
                <a:lnTo>
                  <a:pt x="0" y="8229600"/>
                </a:lnTo>
                <a:lnTo>
                  <a:pt x="0" y="0"/>
                </a:lnTo>
                <a:close/>
              </a:path>
            </a:pathLst>
          </a:custGeom>
          <a:blipFill>
            <a:blip r:embed="rId2"/>
            <a:stretch>
              <a:fillRect l="0" t="0" r="0" b="0"/>
            </a:stretch>
          </a:blipFill>
        </p:spPr>
      </p:sp>
      <p:grpSp>
        <p:nvGrpSpPr>
          <p:cNvPr name="Group 4" id="4"/>
          <p:cNvGrpSpPr/>
          <p:nvPr/>
        </p:nvGrpSpPr>
        <p:grpSpPr>
          <a:xfrm rot="0">
            <a:off x="-2786939" y="9540136"/>
            <a:ext cx="23861879" cy="1715718"/>
            <a:chOff x="0" y="0"/>
            <a:chExt cx="6284610" cy="451876"/>
          </a:xfrm>
        </p:grpSpPr>
        <p:sp>
          <p:nvSpPr>
            <p:cNvPr name="Freeform 5" id="5"/>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6" id="6"/>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7" id="7"/>
          <p:cNvSpPr/>
          <p:nvPr/>
        </p:nvSpPr>
        <p:spPr>
          <a:xfrm flipH="false" flipV="false" rot="-387305">
            <a:off x="16562188" y="8374896"/>
            <a:ext cx="2485981" cy="1889345"/>
          </a:xfrm>
          <a:custGeom>
            <a:avLst/>
            <a:gdLst/>
            <a:ahLst/>
            <a:cxnLst/>
            <a:rect r="r" b="b" t="t" l="l"/>
            <a:pathLst>
              <a:path h="1889345" w="2485981">
                <a:moveTo>
                  <a:pt x="0" y="0"/>
                </a:moveTo>
                <a:lnTo>
                  <a:pt x="2485981" y="0"/>
                </a:lnTo>
                <a:lnTo>
                  <a:pt x="2485981" y="1889345"/>
                </a:lnTo>
                <a:lnTo>
                  <a:pt x="0" y="18893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387305">
            <a:off x="-853929" y="4775071"/>
            <a:ext cx="2412096" cy="1833193"/>
          </a:xfrm>
          <a:custGeom>
            <a:avLst/>
            <a:gdLst/>
            <a:ahLst/>
            <a:cxnLst/>
            <a:rect r="r" b="b" t="t" l="l"/>
            <a:pathLst>
              <a:path h="1833193" w="2412096">
                <a:moveTo>
                  <a:pt x="0" y="0"/>
                </a:moveTo>
                <a:lnTo>
                  <a:pt x="2412097" y="0"/>
                </a:lnTo>
                <a:lnTo>
                  <a:pt x="2412097" y="1833193"/>
                </a:lnTo>
                <a:lnTo>
                  <a:pt x="0" y="18331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895045" y="2681326"/>
            <a:ext cx="12271274" cy="2158688"/>
          </a:xfrm>
          <a:custGeom>
            <a:avLst/>
            <a:gdLst/>
            <a:ahLst/>
            <a:cxnLst/>
            <a:rect r="r" b="b" t="t" l="l"/>
            <a:pathLst>
              <a:path h="2158688" w="12271274">
                <a:moveTo>
                  <a:pt x="0" y="0"/>
                </a:moveTo>
                <a:lnTo>
                  <a:pt x="12271274" y="0"/>
                </a:lnTo>
                <a:lnTo>
                  <a:pt x="12271274" y="2158689"/>
                </a:lnTo>
                <a:lnTo>
                  <a:pt x="0" y="2158689"/>
                </a:lnTo>
                <a:lnTo>
                  <a:pt x="0" y="0"/>
                </a:lnTo>
                <a:close/>
              </a:path>
            </a:pathLst>
          </a:custGeom>
          <a:blipFill>
            <a:blip r:embed="rId7"/>
            <a:stretch>
              <a:fillRect l="0" t="-5793" r="0" b="-624"/>
            </a:stretch>
          </a:blipFill>
        </p:spPr>
      </p:sp>
      <p:sp>
        <p:nvSpPr>
          <p:cNvPr name="Freeform 10" id="10"/>
          <p:cNvSpPr/>
          <p:nvPr/>
        </p:nvSpPr>
        <p:spPr>
          <a:xfrm flipH="false" flipV="false" rot="0">
            <a:off x="5342335" y="5942079"/>
            <a:ext cx="4695650" cy="2986607"/>
          </a:xfrm>
          <a:custGeom>
            <a:avLst/>
            <a:gdLst/>
            <a:ahLst/>
            <a:cxnLst/>
            <a:rect r="r" b="b" t="t" l="l"/>
            <a:pathLst>
              <a:path h="2986607" w="4695650">
                <a:moveTo>
                  <a:pt x="0" y="0"/>
                </a:moveTo>
                <a:lnTo>
                  <a:pt x="4695650" y="0"/>
                </a:lnTo>
                <a:lnTo>
                  <a:pt x="4695650" y="2986607"/>
                </a:lnTo>
                <a:lnTo>
                  <a:pt x="0" y="2986607"/>
                </a:lnTo>
                <a:lnTo>
                  <a:pt x="0" y="0"/>
                </a:lnTo>
                <a:close/>
              </a:path>
            </a:pathLst>
          </a:custGeom>
          <a:blipFill>
            <a:blip r:embed="rId8"/>
            <a:stretch>
              <a:fillRect l="-1779" t="0" r="-1779" b="0"/>
            </a:stretch>
          </a:blipFill>
        </p:spPr>
      </p:sp>
      <p:sp>
        <p:nvSpPr>
          <p:cNvPr name="TextBox 11" id="11"/>
          <p:cNvSpPr txBox="true"/>
          <p:nvPr/>
        </p:nvSpPr>
        <p:spPr>
          <a:xfrm rot="0">
            <a:off x="2911984" y="182782"/>
            <a:ext cx="12254335" cy="745320"/>
          </a:xfrm>
          <a:prstGeom prst="rect">
            <a:avLst/>
          </a:prstGeom>
        </p:spPr>
        <p:txBody>
          <a:bodyPr anchor="t" rtlCol="false" tIns="0" lIns="0" bIns="0" rIns="0">
            <a:spAutoFit/>
          </a:bodyPr>
          <a:lstStyle/>
          <a:p>
            <a:pPr algn="ctr">
              <a:lnSpc>
                <a:spcPts val="6064"/>
              </a:lnSpc>
            </a:pPr>
            <a:r>
              <a:rPr lang="en-US" sz="4331">
                <a:solidFill>
                  <a:srgbClr val="FFFFFF"/>
                </a:solidFill>
                <a:latin typeface="Canva Sans Bold"/>
                <a:ea typeface="Canva Sans Bold"/>
                <a:cs typeface="Canva Sans Bold"/>
                <a:sym typeface="Canva Sans Bold"/>
              </a:rPr>
              <a:t>1) Retrieve the total number of orders placed.</a:t>
            </a:r>
          </a:p>
        </p:txBody>
      </p:sp>
      <p:sp>
        <p:nvSpPr>
          <p:cNvPr name="TextBox 12" id="12"/>
          <p:cNvSpPr txBox="true"/>
          <p:nvPr/>
        </p:nvSpPr>
        <p:spPr>
          <a:xfrm rot="0">
            <a:off x="1028700" y="6944210"/>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3" id="13"/>
          <p:cNvSpPr txBox="true"/>
          <p:nvPr/>
        </p:nvSpPr>
        <p:spPr>
          <a:xfrm rot="0">
            <a:off x="2911984" y="1539520"/>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15698756" y="914457"/>
            <a:ext cx="9135758" cy="8625679"/>
          </a:xfrm>
          <a:custGeom>
            <a:avLst/>
            <a:gdLst/>
            <a:ahLst/>
            <a:cxnLst/>
            <a:rect r="r" b="b" t="t" l="l"/>
            <a:pathLst>
              <a:path h="8625679" w="9135758">
                <a:moveTo>
                  <a:pt x="0" y="0"/>
                </a:moveTo>
                <a:lnTo>
                  <a:pt x="9135758" y="0"/>
                </a:lnTo>
                <a:lnTo>
                  <a:pt x="9135758" y="8625679"/>
                </a:lnTo>
                <a:lnTo>
                  <a:pt x="0" y="8625679"/>
                </a:lnTo>
                <a:lnTo>
                  <a:pt x="0" y="0"/>
                </a:lnTo>
                <a:close/>
              </a:path>
            </a:pathLst>
          </a:custGeom>
          <a:blipFill>
            <a:blip r:embed="rId2"/>
            <a:stretch>
              <a:fillRect l="0" t="0" r="0" b="0"/>
            </a:stretch>
          </a:blipFill>
        </p:spPr>
      </p:sp>
      <p:sp>
        <p:nvSpPr>
          <p:cNvPr name="Freeform 3" id="3"/>
          <p:cNvSpPr/>
          <p:nvPr/>
        </p:nvSpPr>
        <p:spPr>
          <a:xfrm flipH="true" flipV="false" rot="0">
            <a:off x="-6757704" y="699291"/>
            <a:ext cx="9414034" cy="8888417"/>
          </a:xfrm>
          <a:custGeom>
            <a:avLst/>
            <a:gdLst/>
            <a:ahLst/>
            <a:cxnLst/>
            <a:rect r="r" b="b" t="t" l="l"/>
            <a:pathLst>
              <a:path h="8888417" w="9414034">
                <a:moveTo>
                  <a:pt x="9414034" y="0"/>
                </a:moveTo>
                <a:lnTo>
                  <a:pt x="0" y="0"/>
                </a:lnTo>
                <a:lnTo>
                  <a:pt x="0" y="8888418"/>
                </a:lnTo>
                <a:lnTo>
                  <a:pt x="9414034" y="8888418"/>
                </a:lnTo>
                <a:lnTo>
                  <a:pt x="9414034" y="0"/>
                </a:lnTo>
                <a:close/>
              </a:path>
            </a:pathLst>
          </a:custGeom>
          <a:blipFill>
            <a:blip r:embed="rId2"/>
            <a:stretch>
              <a:fillRect l="0" t="0" r="0" b="0"/>
            </a:stretch>
          </a:blipFill>
        </p:spPr>
      </p:sp>
      <p:grpSp>
        <p:nvGrpSpPr>
          <p:cNvPr name="Group 4" id="4"/>
          <p:cNvGrpSpPr/>
          <p:nvPr/>
        </p:nvGrpSpPr>
        <p:grpSpPr>
          <a:xfrm rot="0">
            <a:off x="-2786939" y="9540136"/>
            <a:ext cx="23861879" cy="1715718"/>
            <a:chOff x="0" y="0"/>
            <a:chExt cx="6284610" cy="451876"/>
          </a:xfrm>
        </p:grpSpPr>
        <p:sp>
          <p:nvSpPr>
            <p:cNvPr name="Freeform 5" id="5"/>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6" id="6"/>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7" id="7"/>
          <p:cNvSpPr/>
          <p:nvPr/>
        </p:nvSpPr>
        <p:spPr>
          <a:xfrm flipH="false" flipV="false" rot="0">
            <a:off x="3321066" y="2133850"/>
            <a:ext cx="11645868" cy="3541295"/>
          </a:xfrm>
          <a:custGeom>
            <a:avLst/>
            <a:gdLst/>
            <a:ahLst/>
            <a:cxnLst/>
            <a:rect r="r" b="b" t="t" l="l"/>
            <a:pathLst>
              <a:path h="3541295" w="11645868">
                <a:moveTo>
                  <a:pt x="0" y="0"/>
                </a:moveTo>
                <a:lnTo>
                  <a:pt x="11645868" y="0"/>
                </a:lnTo>
                <a:lnTo>
                  <a:pt x="11645868" y="3541294"/>
                </a:lnTo>
                <a:lnTo>
                  <a:pt x="0" y="3541294"/>
                </a:lnTo>
                <a:lnTo>
                  <a:pt x="0" y="0"/>
                </a:lnTo>
                <a:close/>
              </a:path>
            </a:pathLst>
          </a:custGeom>
          <a:blipFill>
            <a:blip r:embed="rId3"/>
            <a:stretch>
              <a:fillRect l="0" t="0" r="0" b="0"/>
            </a:stretch>
          </a:blipFill>
        </p:spPr>
      </p:sp>
      <p:sp>
        <p:nvSpPr>
          <p:cNvPr name="TextBox 8" id="8"/>
          <p:cNvSpPr txBox="true"/>
          <p:nvPr/>
        </p:nvSpPr>
        <p:spPr>
          <a:xfrm rot="0">
            <a:off x="258440" y="165100"/>
            <a:ext cx="17771120" cy="863600"/>
          </a:xfrm>
          <a:prstGeom prst="rect">
            <a:avLst/>
          </a:prstGeom>
        </p:spPr>
        <p:txBody>
          <a:bodyPr anchor="t" rtlCol="false" tIns="0" lIns="0" bIns="0" rIns="0">
            <a:spAutoFit/>
          </a:bodyPr>
          <a:lstStyle/>
          <a:p>
            <a:pPr algn="ctr">
              <a:lnSpc>
                <a:spcPts val="7000"/>
              </a:lnSpc>
            </a:pPr>
            <a:r>
              <a:rPr lang="en-US" sz="5000">
                <a:solidFill>
                  <a:srgbClr val="FFFFFF"/>
                </a:solidFill>
                <a:latin typeface="Canva Sans Bold"/>
                <a:ea typeface="Canva Sans Bold"/>
                <a:cs typeface="Canva Sans Bold"/>
                <a:sym typeface="Canva Sans Bold"/>
              </a:rPr>
              <a:t>2) Calculate the total revenue generated from pizza sales.</a:t>
            </a:r>
          </a:p>
        </p:txBody>
      </p:sp>
      <p:sp>
        <p:nvSpPr>
          <p:cNvPr name="Freeform 9" id="9"/>
          <p:cNvSpPr/>
          <p:nvPr/>
        </p:nvSpPr>
        <p:spPr>
          <a:xfrm flipH="false" flipV="false" rot="0">
            <a:off x="6465755" y="5988449"/>
            <a:ext cx="5356491" cy="2706737"/>
          </a:xfrm>
          <a:custGeom>
            <a:avLst/>
            <a:gdLst/>
            <a:ahLst/>
            <a:cxnLst/>
            <a:rect r="r" b="b" t="t" l="l"/>
            <a:pathLst>
              <a:path h="2706737" w="5356491">
                <a:moveTo>
                  <a:pt x="0" y="0"/>
                </a:moveTo>
                <a:lnTo>
                  <a:pt x="5356490" y="0"/>
                </a:lnTo>
                <a:lnTo>
                  <a:pt x="5356490" y="2706738"/>
                </a:lnTo>
                <a:lnTo>
                  <a:pt x="0" y="2706738"/>
                </a:lnTo>
                <a:lnTo>
                  <a:pt x="0" y="0"/>
                </a:lnTo>
                <a:close/>
              </a:path>
            </a:pathLst>
          </a:custGeom>
          <a:blipFill>
            <a:blip r:embed="rId4"/>
            <a:stretch>
              <a:fillRect l="0" t="0" r="0" b="0"/>
            </a:stretch>
          </a:blipFill>
        </p:spPr>
      </p:sp>
      <p:sp>
        <p:nvSpPr>
          <p:cNvPr name="TextBox 10" id="10"/>
          <p:cNvSpPr txBox="true"/>
          <p:nvPr/>
        </p:nvSpPr>
        <p:spPr>
          <a:xfrm rot="0">
            <a:off x="2104936" y="6918506"/>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1" id="11"/>
          <p:cNvSpPr txBox="true"/>
          <p:nvPr/>
        </p:nvSpPr>
        <p:spPr>
          <a:xfrm rot="0">
            <a:off x="3425266" y="1143063"/>
            <a:ext cx="2536461" cy="790699"/>
          </a:xfrm>
          <a:prstGeom prst="rect">
            <a:avLst/>
          </a:prstGeom>
        </p:spPr>
        <p:txBody>
          <a:bodyPr anchor="t" rtlCol="false" tIns="0" lIns="0" bIns="0" rIns="0">
            <a:spAutoFit/>
          </a:bodyPr>
          <a:lstStyle/>
          <a:p>
            <a:pPr algn="ctr">
              <a:lnSpc>
                <a:spcPts val="6481"/>
              </a:lnSpc>
            </a:pPr>
            <a:r>
              <a:rPr lang="en-US" sz="462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grpSp>
        <p:nvGrpSpPr>
          <p:cNvPr name="Group 2" id="2"/>
          <p:cNvGrpSpPr/>
          <p:nvPr/>
        </p:nvGrpSpPr>
        <p:grpSpPr>
          <a:xfrm rot="0">
            <a:off x="-2786939" y="9540136"/>
            <a:ext cx="23861879" cy="1715718"/>
            <a:chOff x="0" y="0"/>
            <a:chExt cx="6284610" cy="451876"/>
          </a:xfrm>
        </p:grpSpPr>
        <p:sp>
          <p:nvSpPr>
            <p:cNvPr name="Freeform 3" id="3"/>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4" id="4"/>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5" id="5"/>
          <p:cNvSpPr/>
          <p:nvPr/>
        </p:nvSpPr>
        <p:spPr>
          <a:xfrm flipH="false" flipV="false" rot="-993135">
            <a:off x="16031422" y="4073108"/>
            <a:ext cx="4959028" cy="7452091"/>
          </a:xfrm>
          <a:custGeom>
            <a:avLst/>
            <a:gdLst/>
            <a:ahLst/>
            <a:cxnLst/>
            <a:rect r="r" b="b" t="t" l="l"/>
            <a:pathLst>
              <a:path h="7452091" w="4959028">
                <a:moveTo>
                  <a:pt x="0" y="0"/>
                </a:moveTo>
                <a:lnTo>
                  <a:pt x="4959028" y="0"/>
                </a:lnTo>
                <a:lnTo>
                  <a:pt x="4959028" y="7452091"/>
                </a:lnTo>
                <a:lnTo>
                  <a:pt x="0" y="74520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2312684" y="4349372"/>
            <a:ext cx="4959028" cy="7452091"/>
          </a:xfrm>
          <a:custGeom>
            <a:avLst/>
            <a:gdLst/>
            <a:ahLst/>
            <a:cxnLst/>
            <a:rect r="r" b="b" t="t" l="l"/>
            <a:pathLst>
              <a:path h="7452091" w="4959028">
                <a:moveTo>
                  <a:pt x="4959028" y="0"/>
                </a:moveTo>
                <a:lnTo>
                  <a:pt x="0" y="0"/>
                </a:lnTo>
                <a:lnTo>
                  <a:pt x="0" y="7452091"/>
                </a:lnTo>
                <a:lnTo>
                  <a:pt x="4959028" y="7452091"/>
                </a:lnTo>
                <a:lnTo>
                  <a:pt x="495902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981479" y="2072690"/>
            <a:ext cx="10909640" cy="4053384"/>
          </a:xfrm>
          <a:custGeom>
            <a:avLst/>
            <a:gdLst/>
            <a:ahLst/>
            <a:cxnLst/>
            <a:rect r="r" b="b" t="t" l="l"/>
            <a:pathLst>
              <a:path h="4053384" w="10909640">
                <a:moveTo>
                  <a:pt x="0" y="0"/>
                </a:moveTo>
                <a:lnTo>
                  <a:pt x="10909640" y="0"/>
                </a:lnTo>
                <a:lnTo>
                  <a:pt x="10909640" y="4053384"/>
                </a:lnTo>
                <a:lnTo>
                  <a:pt x="0" y="4053384"/>
                </a:lnTo>
                <a:lnTo>
                  <a:pt x="0" y="0"/>
                </a:lnTo>
                <a:close/>
              </a:path>
            </a:pathLst>
          </a:custGeom>
          <a:blipFill>
            <a:blip r:embed="rId4"/>
            <a:stretch>
              <a:fillRect l="0" t="0" r="0" b="0"/>
            </a:stretch>
          </a:blipFill>
        </p:spPr>
      </p:sp>
      <p:sp>
        <p:nvSpPr>
          <p:cNvPr name="Freeform 8" id="8"/>
          <p:cNvSpPr/>
          <p:nvPr/>
        </p:nvSpPr>
        <p:spPr>
          <a:xfrm flipH="false" flipV="false" rot="0">
            <a:off x="6226706" y="6603262"/>
            <a:ext cx="6419186" cy="2459686"/>
          </a:xfrm>
          <a:custGeom>
            <a:avLst/>
            <a:gdLst/>
            <a:ahLst/>
            <a:cxnLst/>
            <a:rect r="r" b="b" t="t" l="l"/>
            <a:pathLst>
              <a:path h="2459686" w="6419186">
                <a:moveTo>
                  <a:pt x="0" y="0"/>
                </a:moveTo>
                <a:lnTo>
                  <a:pt x="6419186" y="0"/>
                </a:lnTo>
                <a:lnTo>
                  <a:pt x="6419186" y="2459686"/>
                </a:lnTo>
                <a:lnTo>
                  <a:pt x="0" y="2459686"/>
                </a:lnTo>
                <a:lnTo>
                  <a:pt x="0" y="0"/>
                </a:lnTo>
                <a:close/>
              </a:path>
            </a:pathLst>
          </a:custGeom>
          <a:blipFill>
            <a:blip r:embed="rId5"/>
            <a:stretch>
              <a:fillRect l="0" t="-9683" r="0" b="-22192"/>
            </a:stretch>
          </a:blipFill>
        </p:spPr>
      </p:sp>
      <p:sp>
        <p:nvSpPr>
          <p:cNvPr name="TextBox 9" id="9"/>
          <p:cNvSpPr txBox="true"/>
          <p:nvPr/>
        </p:nvSpPr>
        <p:spPr>
          <a:xfrm rot="0">
            <a:off x="2769601" y="481312"/>
            <a:ext cx="12748797" cy="990001"/>
          </a:xfrm>
          <a:prstGeom prst="rect">
            <a:avLst/>
          </a:prstGeom>
        </p:spPr>
        <p:txBody>
          <a:bodyPr anchor="t" rtlCol="false" tIns="0" lIns="0" bIns="0" rIns="0">
            <a:spAutoFit/>
          </a:bodyPr>
          <a:lstStyle/>
          <a:p>
            <a:pPr algn="ctr">
              <a:lnSpc>
                <a:spcPts val="8138"/>
              </a:lnSpc>
            </a:pPr>
            <a:r>
              <a:rPr lang="en-US" sz="5813">
                <a:solidFill>
                  <a:srgbClr val="FFFFFF"/>
                </a:solidFill>
                <a:latin typeface="Canva Sans Bold"/>
                <a:ea typeface="Canva Sans Bold"/>
                <a:cs typeface="Canva Sans Bold"/>
                <a:sym typeface="Canva Sans Bold"/>
              </a:rPr>
              <a:t>3) Identify the highest-priced pizza.</a:t>
            </a:r>
          </a:p>
        </p:txBody>
      </p:sp>
      <p:sp>
        <p:nvSpPr>
          <p:cNvPr name="TextBox 10" id="10"/>
          <p:cNvSpPr txBox="true"/>
          <p:nvPr/>
        </p:nvSpPr>
        <p:spPr>
          <a:xfrm rot="0">
            <a:off x="2436718" y="7341932"/>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1" id="11"/>
          <p:cNvSpPr txBox="true"/>
          <p:nvPr/>
        </p:nvSpPr>
        <p:spPr>
          <a:xfrm rot="0">
            <a:off x="951487" y="2930349"/>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grpSp>
        <p:nvGrpSpPr>
          <p:cNvPr name="Group 2" id="2"/>
          <p:cNvGrpSpPr/>
          <p:nvPr/>
        </p:nvGrpSpPr>
        <p:grpSpPr>
          <a:xfrm rot="0">
            <a:off x="-2786939" y="9540136"/>
            <a:ext cx="23861879" cy="1715718"/>
            <a:chOff x="0" y="0"/>
            <a:chExt cx="6284610" cy="451876"/>
          </a:xfrm>
        </p:grpSpPr>
        <p:sp>
          <p:nvSpPr>
            <p:cNvPr name="Freeform 3" id="3"/>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4" id="4"/>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5" id="5"/>
          <p:cNvSpPr/>
          <p:nvPr/>
        </p:nvSpPr>
        <p:spPr>
          <a:xfrm flipH="false" flipV="false" rot="266846">
            <a:off x="16790406" y="6248593"/>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10629">
            <a:off x="372652" y="6161938"/>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377968">
            <a:off x="16346046" y="-856566"/>
            <a:ext cx="4959028" cy="7452091"/>
          </a:xfrm>
          <a:custGeom>
            <a:avLst/>
            <a:gdLst/>
            <a:ahLst/>
            <a:cxnLst/>
            <a:rect r="r" b="b" t="t" l="l"/>
            <a:pathLst>
              <a:path h="7452091" w="4959028">
                <a:moveTo>
                  <a:pt x="0" y="0"/>
                </a:moveTo>
                <a:lnTo>
                  <a:pt x="4959028" y="0"/>
                </a:lnTo>
                <a:lnTo>
                  <a:pt x="4959028" y="7452091"/>
                </a:lnTo>
                <a:lnTo>
                  <a:pt x="0" y="7452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596157">
            <a:off x="-2765328" y="-1136714"/>
            <a:ext cx="4959028" cy="7452091"/>
          </a:xfrm>
          <a:custGeom>
            <a:avLst/>
            <a:gdLst/>
            <a:ahLst/>
            <a:cxnLst/>
            <a:rect r="r" b="b" t="t" l="l"/>
            <a:pathLst>
              <a:path h="7452091" w="4959028">
                <a:moveTo>
                  <a:pt x="4959028" y="0"/>
                </a:moveTo>
                <a:lnTo>
                  <a:pt x="0" y="0"/>
                </a:lnTo>
                <a:lnTo>
                  <a:pt x="0" y="7452091"/>
                </a:lnTo>
                <a:lnTo>
                  <a:pt x="4959028" y="7452091"/>
                </a:lnTo>
                <a:lnTo>
                  <a:pt x="49590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387305">
            <a:off x="-733079" y="8225048"/>
            <a:ext cx="2485981" cy="1889345"/>
          </a:xfrm>
          <a:custGeom>
            <a:avLst/>
            <a:gdLst/>
            <a:ahLst/>
            <a:cxnLst/>
            <a:rect r="r" b="b" t="t" l="l"/>
            <a:pathLst>
              <a:path h="1889345" w="2485981">
                <a:moveTo>
                  <a:pt x="0" y="0"/>
                </a:moveTo>
                <a:lnTo>
                  <a:pt x="2485981" y="0"/>
                </a:lnTo>
                <a:lnTo>
                  <a:pt x="2485981" y="1889345"/>
                </a:lnTo>
                <a:lnTo>
                  <a:pt x="0" y="18893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87305">
            <a:off x="16981796" y="7736192"/>
            <a:ext cx="2216682" cy="1684679"/>
          </a:xfrm>
          <a:custGeom>
            <a:avLst/>
            <a:gdLst/>
            <a:ahLst/>
            <a:cxnLst/>
            <a:rect r="r" b="b" t="t" l="l"/>
            <a:pathLst>
              <a:path h="1684679" w="2216682">
                <a:moveTo>
                  <a:pt x="0" y="0"/>
                </a:moveTo>
                <a:lnTo>
                  <a:pt x="2216682" y="0"/>
                </a:lnTo>
                <a:lnTo>
                  <a:pt x="2216682" y="1684679"/>
                </a:lnTo>
                <a:lnTo>
                  <a:pt x="0" y="16846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4253951" y="1251351"/>
            <a:ext cx="10243703" cy="4340896"/>
          </a:xfrm>
          <a:custGeom>
            <a:avLst/>
            <a:gdLst/>
            <a:ahLst/>
            <a:cxnLst/>
            <a:rect r="r" b="b" t="t" l="l"/>
            <a:pathLst>
              <a:path h="4340896" w="10243703">
                <a:moveTo>
                  <a:pt x="0" y="0"/>
                </a:moveTo>
                <a:lnTo>
                  <a:pt x="10243704" y="0"/>
                </a:lnTo>
                <a:lnTo>
                  <a:pt x="10243704" y="4340896"/>
                </a:lnTo>
                <a:lnTo>
                  <a:pt x="0" y="4340896"/>
                </a:lnTo>
                <a:lnTo>
                  <a:pt x="0" y="0"/>
                </a:lnTo>
                <a:close/>
              </a:path>
            </a:pathLst>
          </a:custGeom>
          <a:blipFill>
            <a:blip r:embed="rId10"/>
            <a:stretch>
              <a:fillRect l="0" t="0" r="0" b="0"/>
            </a:stretch>
          </a:blipFill>
        </p:spPr>
      </p:sp>
      <p:sp>
        <p:nvSpPr>
          <p:cNvPr name="Freeform 12" id="12"/>
          <p:cNvSpPr/>
          <p:nvPr/>
        </p:nvSpPr>
        <p:spPr>
          <a:xfrm flipH="false" flipV="false" rot="0">
            <a:off x="7287328" y="5896439"/>
            <a:ext cx="4176950" cy="3643697"/>
          </a:xfrm>
          <a:custGeom>
            <a:avLst/>
            <a:gdLst/>
            <a:ahLst/>
            <a:cxnLst/>
            <a:rect r="r" b="b" t="t" l="l"/>
            <a:pathLst>
              <a:path h="3643697" w="4176950">
                <a:moveTo>
                  <a:pt x="0" y="0"/>
                </a:moveTo>
                <a:lnTo>
                  <a:pt x="4176950" y="0"/>
                </a:lnTo>
                <a:lnTo>
                  <a:pt x="4176950" y="3643697"/>
                </a:lnTo>
                <a:lnTo>
                  <a:pt x="0" y="3643697"/>
                </a:lnTo>
                <a:lnTo>
                  <a:pt x="0" y="0"/>
                </a:lnTo>
                <a:close/>
              </a:path>
            </a:pathLst>
          </a:custGeom>
          <a:blipFill>
            <a:blip r:embed="rId11"/>
            <a:stretch>
              <a:fillRect l="0" t="0" r="-21870" b="0"/>
            </a:stretch>
          </a:blipFill>
        </p:spPr>
      </p:sp>
      <p:sp>
        <p:nvSpPr>
          <p:cNvPr name="TextBox 13" id="13"/>
          <p:cNvSpPr txBox="true"/>
          <p:nvPr/>
        </p:nvSpPr>
        <p:spPr>
          <a:xfrm rot="0">
            <a:off x="1409179" y="60064"/>
            <a:ext cx="15469642"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4) Identify the most common pizza size ordered.</a:t>
            </a:r>
          </a:p>
        </p:txBody>
      </p:sp>
      <p:sp>
        <p:nvSpPr>
          <p:cNvPr name="TextBox 14" id="14"/>
          <p:cNvSpPr txBox="true"/>
          <p:nvPr/>
        </p:nvSpPr>
        <p:spPr>
          <a:xfrm rot="0">
            <a:off x="3595110" y="7243275"/>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5" id="15"/>
          <p:cNvSpPr txBox="true"/>
          <p:nvPr/>
        </p:nvSpPr>
        <p:spPr>
          <a:xfrm rot="0">
            <a:off x="1239678" y="2774230"/>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70297">
            <a:off x="0" y="227960"/>
            <a:ext cx="2317574" cy="2504311"/>
          </a:xfrm>
          <a:custGeom>
            <a:avLst/>
            <a:gdLst/>
            <a:ahLst/>
            <a:cxnLst/>
            <a:rect r="r" b="b" t="t" l="l"/>
            <a:pathLst>
              <a:path h="2504311" w="2317574">
                <a:moveTo>
                  <a:pt x="0" y="0"/>
                </a:moveTo>
                <a:lnTo>
                  <a:pt x="2317574" y="0"/>
                </a:lnTo>
                <a:lnTo>
                  <a:pt x="2317574" y="2504311"/>
                </a:lnTo>
                <a:lnTo>
                  <a:pt x="0" y="2504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797461" y="227960"/>
            <a:ext cx="2317574" cy="2504311"/>
          </a:xfrm>
          <a:custGeom>
            <a:avLst/>
            <a:gdLst/>
            <a:ahLst/>
            <a:cxnLst/>
            <a:rect r="r" b="b" t="t" l="l"/>
            <a:pathLst>
              <a:path h="2504311" w="2317574">
                <a:moveTo>
                  <a:pt x="2317575" y="0"/>
                </a:moveTo>
                <a:lnTo>
                  <a:pt x="0" y="0"/>
                </a:lnTo>
                <a:lnTo>
                  <a:pt x="0" y="2504311"/>
                </a:lnTo>
                <a:lnTo>
                  <a:pt x="2317575" y="2504311"/>
                </a:lnTo>
                <a:lnTo>
                  <a:pt x="23175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215904" y="7344930"/>
            <a:ext cx="2317574" cy="2504311"/>
          </a:xfrm>
          <a:custGeom>
            <a:avLst/>
            <a:gdLst/>
            <a:ahLst/>
            <a:cxnLst/>
            <a:rect r="r" b="b" t="t" l="l"/>
            <a:pathLst>
              <a:path h="2504311" w="2317574">
                <a:moveTo>
                  <a:pt x="0" y="2504311"/>
                </a:moveTo>
                <a:lnTo>
                  <a:pt x="2317574" y="2504311"/>
                </a:lnTo>
                <a:lnTo>
                  <a:pt x="2317574" y="0"/>
                </a:lnTo>
                <a:lnTo>
                  <a:pt x="0" y="0"/>
                </a:lnTo>
                <a:lnTo>
                  <a:pt x="0" y="250431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5797461" y="7559291"/>
            <a:ext cx="2317574" cy="2504311"/>
          </a:xfrm>
          <a:custGeom>
            <a:avLst/>
            <a:gdLst/>
            <a:ahLst/>
            <a:cxnLst/>
            <a:rect r="r" b="b" t="t" l="l"/>
            <a:pathLst>
              <a:path h="2504311" w="2317574">
                <a:moveTo>
                  <a:pt x="2317575" y="2504310"/>
                </a:moveTo>
                <a:lnTo>
                  <a:pt x="0" y="2504310"/>
                </a:lnTo>
                <a:lnTo>
                  <a:pt x="0" y="0"/>
                </a:lnTo>
                <a:lnTo>
                  <a:pt x="2317575" y="0"/>
                </a:lnTo>
                <a:lnTo>
                  <a:pt x="2317575" y="250431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660245" y="2014107"/>
            <a:ext cx="8967511" cy="4584019"/>
          </a:xfrm>
          <a:custGeom>
            <a:avLst/>
            <a:gdLst/>
            <a:ahLst/>
            <a:cxnLst/>
            <a:rect r="r" b="b" t="t" l="l"/>
            <a:pathLst>
              <a:path h="4584019" w="8967511">
                <a:moveTo>
                  <a:pt x="0" y="0"/>
                </a:moveTo>
                <a:lnTo>
                  <a:pt x="8967510" y="0"/>
                </a:lnTo>
                <a:lnTo>
                  <a:pt x="8967510" y="4584020"/>
                </a:lnTo>
                <a:lnTo>
                  <a:pt x="0" y="4584020"/>
                </a:lnTo>
                <a:lnTo>
                  <a:pt x="0" y="0"/>
                </a:lnTo>
                <a:close/>
              </a:path>
            </a:pathLst>
          </a:custGeom>
          <a:blipFill>
            <a:blip r:embed="rId4"/>
            <a:stretch>
              <a:fillRect l="0" t="0" r="0" b="-897"/>
            </a:stretch>
          </a:blipFill>
        </p:spPr>
      </p:sp>
      <p:sp>
        <p:nvSpPr>
          <p:cNvPr name="Freeform 7" id="7"/>
          <p:cNvSpPr/>
          <p:nvPr/>
        </p:nvSpPr>
        <p:spPr>
          <a:xfrm flipH="false" flipV="false" rot="0">
            <a:off x="7161117" y="7069117"/>
            <a:ext cx="8010525" cy="2780123"/>
          </a:xfrm>
          <a:custGeom>
            <a:avLst/>
            <a:gdLst/>
            <a:ahLst/>
            <a:cxnLst/>
            <a:rect r="r" b="b" t="t" l="l"/>
            <a:pathLst>
              <a:path h="2780123" w="8010525">
                <a:moveTo>
                  <a:pt x="0" y="0"/>
                </a:moveTo>
                <a:lnTo>
                  <a:pt x="8010524" y="0"/>
                </a:lnTo>
                <a:lnTo>
                  <a:pt x="8010524" y="2780124"/>
                </a:lnTo>
                <a:lnTo>
                  <a:pt x="0" y="2780124"/>
                </a:lnTo>
                <a:lnTo>
                  <a:pt x="0" y="0"/>
                </a:lnTo>
                <a:close/>
              </a:path>
            </a:pathLst>
          </a:custGeom>
          <a:blipFill>
            <a:blip r:embed="rId5"/>
            <a:stretch>
              <a:fillRect l="0" t="0" r="0" b="0"/>
            </a:stretch>
          </a:blipFill>
        </p:spPr>
      </p:sp>
      <p:sp>
        <p:nvSpPr>
          <p:cNvPr name="TextBox 8" id="8"/>
          <p:cNvSpPr txBox="true"/>
          <p:nvPr/>
        </p:nvSpPr>
        <p:spPr>
          <a:xfrm rot="0">
            <a:off x="2533478" y="109278"/>
            <a:ext cx="12927279" cy="2307499"/>
          </a:xfrm>
          <a:prstGeom prst="rect">
            <a:avLst/>
          </a:prstGeom>
        </p:spPr>
        <p:txBody>
          <a:bodyPr anchor="t" rtlCol="false" tIns="0" lIns="0" bIns="0" rIns="0">
            <a:spAutoFit/>
          </a:bodyPr>
          <a:lstStyle/>
          <a:p>
            <a:pPr algn="ctr">
              <a:lnSpc>
                <a:spcPts val="6101"/>
              </a:lnSpc>
            </a:pPr>
            <a:r>
              <a:rPr lang="en-US" sz="4357">
                <a:solidFill>
                  <a:srgbClr val="FFFFFF"/>
                </a:solidFill>
                <a:latin typeface="Canva Sans Bold"/>
                <a:ea typeface="Canva Sans Bold"/>
                <a:cs typeface="Canva Sans Bold"/>
                <a:sym typeface="Canva Sans Bold"/>
              </a:rPr>
              <a:t>5) List the top 5 most ordered pizza types along with their quantities.</a:t>
            </a:r>
          </a:p>
          <a:p>
            <a:pPr algn="ctr">
              <a:lnSpc>
                <a:spcPts val="6101"/>
              </a:lnSpc>
            </a:pPr>
            <a:r>
              <a:rPr lang="en-US" sz="4357">
                <a:solidFill>
                  <a:srgbClr val="FFFFFF"/>
                </a:solidFill>
                <a:latin typeface="Canva Sans Bold"/>
                <a:ea typeface="Canva Sans Bold"/>
                <a:cs typeface="Canva Sans Bold"/>
                <a:sym typeface="Canva Sans Bold"/>
              </a:rPr>
              <a:t> </a:t>
            </a:r>
          </a:p>
        </p:txBody>
      </p:sp>
      <p:sp>
        <p:nvSpPr>
          <p:cNvPr name="TextBox 9" id="9"/>
          <p:cNvSpPr txBox="true"/>
          <p:nvPr/>
        </p:nvSpPr>
        <p:spPr>
          <a:xfrm rot="0">
            <a:off x="3115483" y="7968007"/>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0" id="10"/>
          <p:cNvSpPr txBox="true"/>
          <p:nvPr/>
        </p:nvSpPr>
        <p:spPr>
          <a:xfrm rot="0">
            <a:off x="1374691" y="3814945"/>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16295751" y="1160069"/>
            <a:ext cx="9135758" cy="8625679"/>
          </a:xfrm>
          <a:custGeom>
            <a:avLst/>
            <a:gdLst/>
            <a:ahLst/>
            <a:cxnLst/>
            <a:rect r="r" b="b" t="t" l="l"/>
            <a:pathLst>
              <a:path h="8625679" w="9135758">
                <a:moveTo>
                  <a:pt x="0" y="0"/>
                </a:moveTo>
                <a:lnTo>
                  <a:pt x="9135758" y="0"/>
                </a:lnTo>
                <a:lnTo>
                  <a:pt x="9135758" y="8625679"/>
                </a:lnTo>
                <a:lnTo>
                  <a:pt x="0" y="8625679"/>
                </a:lnTo>
                <a:lnTo>
                  <a:pt x="0" y="0"/>
                </a:lnTo>
                <a:close/>
              </a:path>
            </a:pathLst>
          </a:custGeom>
          <a:blipFill>
            <a:blip r:embed="rId2"/>
            <a:stretch>
              <a:fillRect l="0" t="0" r="0" b="0"/>
            </a:stretch>
          </a:blipFill>
        </p:spPr>
      </p:sp>
      <p:sp>
        <p:nvSpPr>
          <p:cNvPr name="Freeform 3" id="3"/>
          <p:cNvSpPr/>
          <p:nvPr/>
        </p:nvSpPr>
        <p:spPr>
          <a:xfrm flipH="true" flipV="false" rot="0">
            <a:off x="-7191145" y="1028700"/>
            <a:ext cx="9414034" cy="8888417"/>
          </a:xfrm>
          <a:custGeom>
            <a:avLst/>
            <a:gdLst/>
            <a:ahLst/>
            <a:cxnLst/>
            <a:rect r="r" b="b" t="t" l="l"/>
            <a:pathLst>
              <a:path h="8888417" w="9414034">
                <a:moveTo>
                  <a:pt x="9414034" y="0"/>
                </a:moveTo>
                <a:lnTo>
                  <a:pt x="0" y="0"/>
                </a:lnTo>
                <a:lnTo>
                  <a:pt x="0" y="8888417"/>
                </a:lnTo>
                <a:lnTo>
                  <a:pt x="9414034" y="8888417"/>
                </a:lnTo>
                <a:lnTo>
                  <a:pt x="9414034" y="0"/>
                </a:lnTo>
                <a:close/>
              </a:path>
            </a:pathLst>
          </a:custGeom>
          <a:blipFill>
            <a:blip r:embed="rId2"/>
            <a:stretch>
              <a:fillRect l="0" t="0" r="0" b="0"/>
            </a:stretch>
          </a:blipFill>
        </p:spPr>
      </p:sp>
      <p:sp>
        <p:nvSpPr>
          <p:cNvPr name="Freeform 4" id="4"/>
          <p:cNvSpPr/>
          <p:nvPr/>
        </p:nvSpPr>
        <p:spPr>
          <a:xfrm flipH="false" flipV="false" rot="0">
            <a:off x="4035952" y="1625871"/>
            <a:ext cx="9833658" cy="4984051"/>
          </a:xfrm>
          <a:custGeom>
            <a:avLst/>
            <a:gdLst/>
            <a:ahLst/>
            <a:cxnLst/>
            <a:rect r="r" b="b" t="t" l="l"/>
            <a:pathLst>
              <a:path h="4984051" w="9833658">
                <a:moveTo>
                  <a:pt x="0" y="0"/>
                </a:moveTo>
                <a:lnTo>
                  <a:pt x="9833658" y="0"/>
                </a:lnTo>
                <a:lnTo>
                  <a:pt x="9833658" y="4984051"/>
                </a:lnTo>
                <a:lnTo>
                  <a:pt x="0" y="4984051"/>
                </a:lnTo>
                <a:lnTo>
                  <a:pt x="0" y="0"/>
                </a:lnTo>
                <a:close/>
              </a:path>
            </a:pathLst>
          </a:custGeom>
          <a:blipFill>
            <a:blip r:embed="rId3"/>
            <a:stretch>
              <a:fillRect l="0" t="0" r="-4949" b="-3139"/>
            </a:stretch>
          </a:blipFill>
        </p:spPr>
      </p:sp>
      <p:sp>
        <p:nvSpPr>
          <p:cNvPr name="Freeform 5" id="5"/>
          <p:cNvSpPr/>
          <p:nvPr/>
        </p:nvSpPr>
        <p:spPr>
          <a:xfrm flipH="false" flipV="false" rot="0">
            <a:off x="8605111" y="6860492"/>
            <a:ext cx="4977146" cy="3056625"/>
          </a:xfrm>
          <a:custGeom>
            <a:avLst/>
            <a:gdLst/>
            <a:ahLst/>
            <a:cxnLst/>
            <a:rect r="r" b="b" t="t" l="l"/>
            <a:pathLst>
              <a:path h="3056625" w="4977146">
                <a:moveTo>
                  <a:pt x="0" y="0"/>
                </a:moveTo>
                <a:lnTo>
                  <a:pt x="4977146" y="0"/>
                </a:lnTo>
                <a:lnTo>
                  <a:pt x="4977146" y="3056625"/>
                </a:lnTo>
                <a:lnTo>
                  <a:pt x="0" y="3056625"/>
                </a:lnTo>
                <a:lnTo>
                  <a:pt x="0" y="0"/>
                </a:lnTo>
                <a:close/>
              </a:path>
            </a:pathLst>
          </a:custGeom>
          <a:blipFill>
            <a:blip r:embed="rId4"/>
            <a:stretch>
              <a:fillRect l="0" t="-29642" r="0" b="0"/>
            </a:stretch>
          </a:blipFill>
        </p:spPr>
      </p:sp>
      <p:sp>
        <p:nvSpPr>
          <p:cNvPr name="TextBox 6" id="6"/>
          <p:cNvSpPr txBox="true"/>
          <p:nvPr/>
        </p:nvSpPr>
        <p:spPr>
          <a:xfrm rot="0">
            <a:off x="0" y="-76200"/>
            <a:ext cx="18288000" cy="1451502"/>
          </a:xfrm>
          <a:prstGeom prst="rect">
            <a:avLst/>
          </a:prstGeom>
        </p:spPr>
        <p:txBody>
          <a:bodyPr anchor="t" rtlCol="false" tIns="0" lIns="0" bIns="0" rIns="0">
            <a:spAutoFit/>
          </a:bodyPr>
          <a:lstStyle/>
          <a:p>
            <a:pPr algn="ctr">
              <a:lnSpc>
                <a:spcPts val="5835"/>
              </a:lnSpc>
            </a:pPr>
            <a:r>
              <a:rPr lang="en-US" sz="4168">
                <a:solidFill>
                  <a:srgbClr val="FFFFFF"/>
                </a:solidFill>
                <a:latin typeface="Canva Sans Bold"/>
                <a:ea typeface="Canva Sans Bold"/>
                <a:cs typeface="Canva Sans Bold"/>
                <a:sym typeface="Canva Sans Bold"/>
              </a:rPr>
              <a:t>6) Join the necessary tables to find the total quantity of each pizza category ordered. </a:t>
            </a:r>
          </a:p>
        </p:txBody>
      </p:sp>
      <p:sp>
        <p:nvSpPr>
          <p:cNvPr name="TextBox 7" id="7"/>
          <p:cNvSpPr txBox="true"/>
          <p:nvPr/>
        </p:nvSpPr>
        <p:spPr>
          <a:xfrm rot="0">
            <a:off x="4555444" y="7897632"/>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8" id="8"/>
          <p:cNvSpPr txBox="true"/>
          <p:nvPr/>
        </p:nvSpPr>
        <p:spPr>
          <a:xfrm rot="0">
            <a:off x="1028700" y="1754768"/>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grpSp>
        <p:nvGrpSpPr>
          <p:cNvPr name="Group 2" id="2"/>
          <p:cNvGrpSpPr/>
          <p:nvPr/>
        </p:nvGrpSpPr>
        <p:grpSpPr>
          <a:xfrm rot="0">
            <a:off x="-2786939" y="9540136"/>
            <a:ext cx="23861879" cy="1715718"/>
            <a:chOff x="0" y="0"/>
            <a:chExt cx="6284610" cy="451876"/>
          </a:xfrm>
        </p:grpSpPr>
        <p:sp>
          <p:nvSpPr>
            <p:cNvPr name="Freeform 3" id="3"/>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4" id="4"/>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5" id="5"/>
          <p:cNvSpPr/>
          <p:nvPr/>
        </p:nvSpPr>
        <p:spPr>
          <a:xfrm flipH="false" flipV="false" rot="0">
            <a:off x="15027584" y="6834600"/>
            <a:ext cx="4959028" cy="7452091"/>
          </a:xfrm>
          <a:custGeom>
            <a:avLst/>
            <a:gdLst/>
            <a:ahLst/>
            <a:cxnLst/>
            <a:rect r="r" b="b" t="t" l="l"/>
            <a:pathLst>
              <a:path h="7452091" w="4959028">
                <a:moveTo>
                  <a:pt x="0" y="0"/>
                </a:moveTo>
                <a:lnTo>
                  <a:pt x="4959028" y="0"/>
                </a:lnTo>
                <a:lnTo>
                  <a:pt x="4959028" y="7452091"/>
                </a:lnTo>
                <a:lnTo>
                  <a:pt x="0" y="74520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889830" y="6671949"/>
            <a:ext cx="4959028" cy="7452091"/>
          </a:xfrm>
          <a:custGeom>
            <a:avLst/>
            <a:gdLst/>
            <a:ahLst/>
            <a:cxnLst/>
            <a:rect r="r" b="b" t="t" l="l"/>
            <a:pathLst>
              <a:path h="7452091" w="4959028">
                <a:moveTo>
                  <a:pt x="4959028" y="0"/>
                </a:moveTo>
                <a:lnTo>
                  <a:pt x="0" y="0"/>
                </a:lnTo>
                <a:lnTo>
                  <a:pt x="0" y="7452091"/>
                </a:lnTo>
                <a:lnTo>
                  <a:pt x="4959028" y="7452091"/>
                </a:lnTo>
                <a:lnTo>
                  <a:pt x="495902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251330" y="1511792"/>
            <a:ext cx="10219212" cy="2703278"/>
          </a:xfrm>
          <a:custGeom>
            <a:avLst/>
            <a:gdLst/>
            <a:ahLst/>
            <a:cxnLst/>
            <a:rect r="r" b="b" t="t" l="l"/>
            <a:pathLst>
              <a:path h="2703278" w="10219212">
                <a:moveTo>
                  <a:pt x="0" y="0"/>
                </a:moveTo>
                <a:lnTo>
                  <a:pt x="10219212" y="0"/>
                </a:lnTo>
                <a:lnTo>
                  <a:pt x="10219212" y="2703278"/>
                </a:lnTo>
                <a:lnTo>
                  <a:pt x="0" y="2703278"/>
                </a:lnTo>
                <a:lnTo>
                  <a:pt x="0" y="0"/>
                </a:lnTo>
                <a:close/>
              </a:path>
            </a:pathLst>
          </a:custGeom>
          <a:blipFill>
            <a:blip r:embed="rId4"/>
            <a:stretch>
              <a:fillRect l="0" t="0" r="0" b="0"/>
            </a:stretch>
          </a:blipFill>
        </p:spPr>
      </p:sp>
      <p:sp>
        <p:nvSpPr>
          <p:cNvPr name="Freeform 8" id="8"/>
          <p:cNvSpPr/>
          <p:nvPr/>
        </p:nvSpPr>
        <p:spPr>
          <a:xfrm flipH="false" flipV="false" rot="0">
            <a:off x="12270222" y="4899536"/>
            <a:ext cx="2757362" cy="4844856"/>
          </a:xfrm>
          <a:custGeom>
            <a:avLst/>
            <a:gdLst/>
            <a:ahLst/>
            <a:cxnLst/>
            <a:rect r="r" b="b" t="t" l="l"/>
            <a:pathLst>
              <a:path h="4844856" w="2757362">
                <a:moveTo>
                  <a:pt x="0" y="0"/>
                </a:moveTo>
                <a:lnTo>
                  <a:pt x="2757362" y="0"/>
                </a:lnTo>
                <a:lnTo>
                  <a:pt x="2757362" y="4844856"/>
                </a:lnTo>
                <a:lnTo>
                  <a:pt x="0" y="4844856"/>
                </a:lnTo>
                <a:lnTo>
                  <a:pt x="0" y="0"/>
                </a:lnTo>
                <a:close/>
              </a:path>
            </a:pathLst>
          </a:custGeom>
          <a:blipFill>
            <a:blip r:embed="rId5"/>
            <a:stretch>
              <a:fillRect l="0" t="0" r="0" b="0"/>
            </a:stretch>
          </a:blipFill>
        </p:spPr>
      </p:sp>
      <p:sp>
        <p:nvSpPr>
          <p:cNvPr name="TextBox 9" id="9"/>
          <p:cNvSpPr txBox="true"/>
          <p:nvPr/>
        </p:nvSpPr>
        <p:spPr>
          <a:xfrm rot="0">
            <a:off x="1430635" y="151664"/>
            <a:ext cx="15426729" cy="675662"/>
          </a:xfrm>
          <a:prstGeom prst="rect">
            <a:avLst/>
          </a:prstGeom>
        </p:spPr>
        <p:txBody>
          <a:bodyPr anchor="t" rtlCol="false" tIns="0" lIns="0" bIns="0" rIns="0">
            <a:spAutoFit/>
          </a:bodyPr>
          <a:lstStyle/>
          <a:p>
            <a:pPr algn="ctr">
              <a:lnSpc>
                <a:spcPts val="5511"/>
              </a:lnSpc>
            </a:pPr>
            <a:r>
              <a:rPr lang="en-US" sz="3936">
                <a:solidFill>
                  <a:srgbClr val="FFFFFF"/>
                </a:solidFill>
                <a:latin typeface="Canva Sans Bold"/>
                <a:ea typeface="Canva Sans Bold"/>
                <a:cs typeface="Canva Sans Bold"/>
                <a:sym typeface="Canva Sans Bold"/>
              </a:rPr>
              <a:t>7) Determine the distribution of orders by hour of the day. </a:t>
            </a:r>
          </a:p>
        </p:txBody>
      </p:sp>
      <p:sp>
        <p:nvSpPr>
          <p:cNvPr name="TextBox 10" id="10"/>
          <p:cNvSpPr txBox="true"/>
          <p:nvPr/>
        </p:nvSpPr>
        <p:spPr>
          <a:xfrm rot="0">
            <a:off x="7237757" y="6739350"/>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1" id="11"/>
          <p:cNvSpPr txBox="true"/>
          <p:nvPr/>
        </p:nvSpPr>
        <p:spPr>
          <a:xfrm rot="0">
            <a:off x="220181" y="2372259"/>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grpSp>
        <p:nvGrpSpPr>
          <p:cNvPr name="Group 2" id="2"/>
          <p:cNvGrpSpPr/>
          <p:nvPr/>
        </p:nvGrpSpPr>
        <p:grpSpPr>
          <a:xfrm rot="0">
            <a:off x="-2786939" y="9540136"/>
            <a:ext cx="23861879" cy="1715718"/>
            <a:chOff x="0" y="0"/>
            <a:chExt cx="6284610" cy="451876"/>
          </a:xfrm>
        </p:grpSpPr>
        <p:sp>
          <p:nvSpPr>
            <p:cNvPr name="Freeform 3" id="3"/>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4" id="4"/>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5" id="5"/>
          <p:cNvSpPr/>
          <p:nvPr/>
        </p:nvSpPr>
        <p:spPr>
          <a:xfrm flipH="false" flipV="false" rot="266846">
            <a:off x="16790406" y="6248593"/>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10629">
            <a:off x="372652" y="6161938"/>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234866">
            <a:off x="15610623" y="-2152700"/>
            <a:ext cx="4959028" cy="7452091"/>
          </a:xfrm>
          <a:custGeom>
            <a:avLst/>
            <a:gdLst/>
            <a:ahLst/>
            <a:cxnLst/>
            <a:rect r="r" b="b" t="t" l="l"/>
            <a:pathLst>
              <a:path h="7452091" w="4959028">
                <a:moveTo>
                  <a:pt x="0" y="0"/>
                </a:moveTo>
                <a:lnTo>
                  <a:pt x="4959028" y="0"/>
                </a:lnTo>
                <a:lnTo>
                  <a:pt x="4959028" y="7452091"/>
                </a:lnTo>
                <a:lnTo>
                  <a:pt x="0" y="7452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1143330">
            <a:off x="-2123495" y="-2291438"/>
            <a:ext cx="4959028" cy="7452091"/>
          </a:xfrm>
          <a:custGeom>
            <a:avLst/>
            <a:gdLst/>
            <a:ahLst/>
            <a:cxnLst/>
            <a:rect r="r" b="b" t="t" l="l"/>
            <a:pathLst>
              <a:path h="7452091" w="4959028">
                <a:moveTo>
                  <a:pt x="4959028" y="0"/>
                </a:moveTo>
                <a:lnTo>
                  <a:pt x="0" y="0"/>
                </a:lnTo>
                <a:lnTo>
                  <a:pt x="0" y="7452092"/>
                </a:lnTo>
                <a:lnTo>
                  <a:pt x="4959028" y="7452092"/>
                </a:lnTo>
                <a:lnTo>
                  <a:pt x="49590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387305">
            <a:off x="-733079" y="8225048"/>
            <a:ext cx="2485981" cy="1889345"/>
          </a:xfrm>
          <a:custGeom>
            <a:avLst/>
            <a:gdLst/>
            <a:ahLst/>
            <a:cxnLst/>
            <a:rect r="r" b="b" t="t" l="l"/>
            <a:pathLst>
              <a:path h="1889345" w="2485981">
                <a:moveTo>
                  <a:pt x="0" y="0"/>
                </a:moveTo>
                <a:lnTo>
                  <a:pt x="2485981" y="0"/>
                </a:lnTo>
                <a:lnTo>
                  <a:pt x="2485981" y="1889345"/>
                </a:lnTo>
                <a:lnTo>
                  <a:pt x="0" y="18893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87305">
            <a:off x="16981796" y="7736192"/>
            <a:ext cx="2216682" cy="1684679"/>
          </a:xfrm>
          <a:custGeom>
            <a:avLst/>
            <a:gdLst/>
            <a:ahLst/>
            <a:cxnLst/>
            <a:rect r="r" b="b" t="t" l="l"/>
            <a:pathLst>
              <a:path h="1684679" w="2216682">
                <a:moveTo>
                  <a:pt x="0" y="0"/>
                </a:moveTo>
                <a:lnTo>
                  <a:pt x="2216682" y="0"/>
                </a:lnTo>
                <a:lnTo>
                  <a:pt x="2216682" y="1684679"/>
                </a:lnTo>
                <a:lnTo>
                  <a:pt x="0" y="16846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3964045" y="2201318"/>
            <a:ext cx="10495003" cy="2673086"/>
          </a:xfrm>
          <a:custGeom>
            <a:avLst/>
            <a:gdLst/>
            <a:ahLst/>
            <a:cxnLst/>
            <a:rect r="r" b="b" t="t" l="l"/>
            <a:pathLst>
              <a:path h="2673086" w="10495003">
                <a:moveTo>
                  <a:pt x="0" y="0"/>
                </a:moveTo>
                <a:lnTo>
                  <a:pt x="10495003" y="0"/>
                </a:lnTo>
                <a:lnTo>
                  <a:pt x="10495003" y="2673086"/>
                </a:lnTo>
                <a:lnTo>
                  <a:pt x="0" y="2673086"/>
                </a:lnTo>
                <a:lnTo>
                  <a:pt x="0" y="0"/>
                </a:lnTo>
                <a:close/>
              </a:path>
            </a:pathLst>
          </a:custGeom>
          <a:blipFill>
            <a:blip r:embed="rId10"/>
            <a:stretch>
              <a:fillRect l="0" t="0" r="0" b="0"/>
            </a:stretch>
          </a:blipFill>
        </p:spPr>
      </p:sp>
      <p:sp>
        <p:nvSpPr>
          <p:cNvPr name="Freeform 12" id="12"/>
          <p:cNvSpPr/>
          <p:nvPr/>
        </p:nvSpPr>
        <p:spPr>
          <a:xfrm flipH="false" flipV="false" rot="0">
            <a:off x="9211547" y="5939140"/>
            <a:ext cx="4957411" cy="2798771"/>
          </a:xfrm>
          <a:custGeom>
            <a:avLst/>
            <a:gdLst/>
            <a:ahLst/>
            <a:cxnLst/>
            <a:rect r="r" b="b" t="t" l="l"/>
            <a:pathLst>
              <a:path h="2798771" w="4957411">
                <a:moveTo>
                  <a:pt x="0" y="0"/>
                </a:moveTo>
                <a:lnTo>
                  <a:pt x="4957411" y="0"/>
                </a:lnTo>
                <a:lnTo>
                  <a:pt x="4957411" y="2798770"/>
                </a:lnTo>
                <a:lnTo>
                  <a:pt x="0" y="2798770"/>
                </a:lnTo>
                <a:lnTo>
                  <a:pt x="0" y="0"/>
                </a:lnTo>
                <a:close/>
              </a:path>
            </a:pathLst>
          </a:custGeom>
          <a:blipFill>
            <a:blip r:embed="rId11"/>
            <a:stretch>
              <a:fillRect l="0" t="-23415" r="-14339" b="0"/>
            </a:stretch>
          </a:blipFill>
        </p:spPr>
      </p:sp>
      <p:sp>
        <p:nvSpPr>
          <p:cNvPr name="TextBox 13" id="13"/>
          <p:cNvSpPr txBox="true"/>
          <p:nvPr/>
        </p:nvSpPr>
        <p:spPr>
          <a:xfrm rot="0">
            <a:off x="2155872" y="122296"/>
            <a:ext cx="13976255" cy="1451050"/>
          </a:xfrm>
          <a:prstGeom prst="rect">
            <a:avLst/>
          </a:prstGeom>
        </p:spPr>
        <p:txBody>
          <a:bodyPr anchor="t" rtlCol="false" tIns="0" lIns="0" bIns="0" rIns="0">
            <a:spAutoFit/>
          </a:bodyPr>
          <a:lstStyle/>
          <a:p>
            <a:pPr algn="ctr">
              <a:lnSpc>
                <a:spcPts val="5833"/>
              </a:lnSpc>
            </a:pPr>
            <a:r>
              <a:rPr lang="en-US" sz="4166">
                <a:solidFill>
                  <a:srgbClr val="FFFFFF"/>
                </a:solidFill>
                <a:latin typeface="Canva Sans Bold"/>
                <a:ea typeface="Canva Sans Bold"/>
                <a:cs typeface="Canva Sans Bold"/>
                <a:sym typeface="Canva Sans Bold"/>
              </a:rPr>
              <a:t>8) Join relevant tables to find the category-wise distribution of pizzas.</a:t>
            </a:r>
          </a:p>
        </p:txBody>
      </p:sp>
      <p:sp>
        <p:nvSpPr>
          <p:cNvPr name="TextBox 14" id="14"/>
          <p:cNvSpPr txBox="true"/>
          <p:nvPr/>
        </p:nvSpPr>
        <p:spPr>
          <a:xfrm rot="0">
            <a:off x="4803806" y="6847353"/>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5" id="15"/>
          <p:cNvSpPr txBox="true"/>
          <p:nvPr/>
        </p:nvSpPr>
        <p:spPr>
          <a:xfrm rot="0">
            <a:off x="898038" y="3046689"/>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15712354" y="830661"/>
            <a:ext cx="9135758" cy="8625679"/>
          </a:xfrm>
          <a:custGeom>
            <a:avLst/>
            <a:gdLst/>
            <a:ahLst/>
            <a:cxnLst/>
            <a:rect r="r" b="b" t="t" l="l"/>
            <a:pathLst>
              <a:path h="8625679" w="9135758">
                <a:moveTo>
                  <a:pt x="0" y="0"/>
                </a:moveTo>
                <a:lnTo>
                  <a:pt x="9135759" y="0"/>
                </a:lnTo>
                <a:lnTo>
                  <a:pt x="9135759" y="8625678"/>
                </a:lnTo>
                <a:lnTo>
                  <a:pt x="0" y="8625678"/>
                </a:lnTo>
                <a:lnTo>
                  <a:pt x="0" y="0"/>
                </a:lnTo>
                <a:close/>
              </a:path>
            </a:pathLst>
          </a:custGeom>
          <a:blipFill>
            <a:blip r:embed="rId2"/>
            <a:stretch>
              <a:fillRect l="0" t="0" r="0" b="0"/>
            </a:stretch>
          </a:blipFill>
        </p:spPr>
      </p:sp>
      <p:sp>
        <p:nvSpPr>
          <p:cNvPr name="Freeform 3" id="3"/>
          <p:cNvSpPr/>
          <p:nvPr/>
        </p:nvSpPr>
        <p:spPr>
          <a:xfrm flipH="true" flipV="false" rot="0">
            <a:off x="-7027339" y="699291"/>
            <a:ext cx="9414034" cy="8888417"/>
          </a:xfrm>
          <a:custGeom>
            <a:avLst/>
            <a:gdLst/>
            <a:ahLst/>
            <a:cxnLst/>
            <a:rect r="r" b="b" t="t" l="l"/>
            <a:pathLst>
              <a:path h="8888417" w="9414034">
                <a:moveTo>
                  <a:pt x="9414034" y="0"/>
                </a:moveTo>
                <a:lnTo>
                  <a:pt x="0" y="0"/>
                </a:lnTo>
                <a:lnTo>
                  <a:pt x="0" y="8888418"/>
                </a:lnTo>
                <a:lnTo>
                  <a:pt x="9414034" y="8888418"/>
                </a:lnTo>
                <a:lnTo>
                  <a:pt x="9414034" y="0"/>
                </a:lnTo>
                <a:close/>
              </a:path>
            </a:pathLst>
          </a:custGeom>
          <a:blipFill>
            <a:blip r:embed="rId2"/>
            <a:stretch>
              <a:fillRect l="0" t="0" r="0" b="0"/>
            </a:stretch>
          </a:blipFill>
        </p:spPr>
      </p:sp>
      <p:grpSp>
        <p:nvGrpSpPr>
          <p:cNvPr name="Group 4" id="4"/>
          <p:cNvGrpSpPr/>
          <p:nvPr/>
        </p:nvGrpSpPr>
        <p:grpSpPr>
          <a:xfrm rot="0">
            <a:off x="-2786939" y="9540136"/>
            <a:ext cx="23861879" cy="1715718"/>
            <a:chOff x="0" y="0"/>
            <a:chExt cx="6284610" cy="451876"/>
          </a:xfrm>
        </p:grpSpPr>
        <p:sp>
          <p:nvSpPr>
            <p:cNvPr name="Freeform 5" id="5"/>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6" id="6"/>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7" id="7"/>
          <p:cNvSpPr/>
          <p:nvPr/>
        </p:nvSpPr>
        <p:spPr>
          <a:xfrm flipH="false" flipV="false" rot="0">
            <a:off x="3768615" y="2213603"/>
            <a:ext cx="10561819" cy="3802976"/>
          </a:xfrm>
          <a:custGeom>
            <a:avLst/>
            <a:gdLst/>
            <a:ahLst/>
            <a:cxnLst/>
            <a:rect r="r" b="b" t="t" l="l"/>
            <a:pathLst>
              <a:path h="3802976" w="10561819">
                <a:moveTo>
                  <a:pt x="0" y="0"/>
                </a:moveTo>
                <a:lnTo>
                  <a:pt x="10561819" y="0"/>
                </a:lnTo>
                <a:lnTo>
                  <a:pt x="10561819" y="3802976"/>
                </a:lnTo>
                <a:lnTo>
                  <a:pt x="0" y="3802976"/>
                </a:lnTo>
                <a:lnTo>
                  <a:pt x="0" y="0"/>
                </a:lnTo>
                <a:close/>
              </a:path>
            </a:pathLst>
          </a:custGeom>
          <a:blipFill>
            <a:blip r:embed="rId3"/>
            <a:stretch>
              <a:fillRect l="0" t="0" r="0" b="0"/>
            </a:stretch>
          </a:blipFill>
        </p:spPr>
      </p:sp>
      <p:sp>
        <p:nvSpPr>
          <p:cNvPr name="Freeform 8" id="8"/>
          <p:cNvSpPr/>
          <p:nvPr/>
        </p:nvSpPr>
        <p:spPr>
          <a:xfrm flipH="false" flipV="false" rot="0">
            <a:off x="8741499" y="6969169"/>
            <a:ext cx="6032561" cy="1618376"/>
          </a:xfrm>
          <a:custGeom>
            <a:avLst/>
            <a:gdLst/>
            <a:ahLst/>
            <a:cxnLst/>
            <a:rect r="r" b="b" t="t" l="l"/>
            <a:pathLst>
              <a:path h="1618376" w="6032561">
                <a:moveTo>
                  <a:pt x="0" y="0"/>
                </a:moveTo>
                <a:lnTo>
                  <a:pt x="6032562" y="0"/>
                </a:lnTo>
                <a:lnTo>
                  <a:pt x="6032562" y="1618376"/>
                </a:lnTo>
                <a:lnTo>
                  <a:pt x="0" y="1618376"/>
                </a:lnTo>
                <a:lnTo>
                  <a:pt x="0" y="0"/>
                </a:lnTo>
                <a:close/>
              </a:path>
            </a:pathLst>
          </a:custGeom>
          <a:blipFill>
            <a:blip r:embed="rId4"/>
            <a:stretch>
              <a:fillRect l="0" t="-54684" r="-5165" b="0"/>
            </a:stretch>
          </a:blipFill>
        </p:spPr>
      </p:sp>
      <p:sp>
        <p:nvSpPr>
          <p:cNvPr name="TextBox 9" id="9"/>
          <p:cNvSpPr txBox="true"/>
          <p:nvPr/>
        </p:nvSpPr>
        <p:spPr>
          <a:xfrm rot="0">
            <a:off x="442182" y="-47129"/>
            <a:ext cx="17403637" cy="1660330"/>
          </a:xfrm>
          <a:prstGeom prst="rect">
            <a:avLst/>
          </a:prstGeom>
        </p:spPr>
        <p:txBody>
          <a:bodyPr anchor="t" rtlCol="false" tIns="0" lIns="0" bIns="0" rIns="0">
            <a:spAutoFit/>
          </a:bodyPr>
          <a:lstStyle/>
          <a:p>
            <a:pPr algn="ctr">
              <a:lnSpc>
                <a:spcPts val="6640"/>
              </a:lnSpc>
            </a:pPr>
            <a:r>
              <a:rPr lang="en-US" sz="4743">
                <a:solidFill>
                  <a:srgbClr val="FFFFFF"/>
                </a:solidFill>
                <a:latin typeface="Canva Sans Bold"/>
                <a:ea typeface="Canva Sans Bold"/>
                <a:cs typeface="Canva Sans Bold"/>
                <a:sym typeface="Canva Sans Bold"/>
              </a:rPr>
              <a:t>9) Group the orders by date and calculate the average number of pizzas ordered per day.</a:t>
            </a:r>
          </a:p>
        </p:txBody>
      </p:sp>
      <p:sp>
        <p:nvSpPr>
          <p:cNvPr name="TextBox 10" id="10"/>
          <p:cNvSpPr txBox="true"/>
          <p:nvPr/>
        </p:nvSpPr>
        <p:spPr>
          <a:xfrm rot="0">
            <a:off x="4709001" y="7287185"/>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1" id="11"/>
          <p:cNvSpPr txBox="true"/>
          <p:nvPr/>
        </p:nvSpPr>
        <p:spPr>
          <a:xfrm rot="0">
            <a:off x="1819190" y="2256477"/>
            <a:ext cx="1797017" cy="556606"/>
          </a:xfrm>
          <a:prstGeom prst="rect">
            <a:avLst/>
          </a:prstGeom>
        </p:spPr>
        <p:txBody>
          <a:bodyPr anchor="t" rtlCol="false" tIns="0" lIns="0" bIns="0" rIns="0">
            <a:spAutoFit/>
          </a:bodyPr>
          <a:lstStyle/>
          <a:p>
            <a:pPr algn="ctr">
              <a:lnSpc>
                <a:spcPts val="4591"/>
              </a:lnSpc>
            </a:pPr>
            <a:r>
              <a:rPr lang="en-US" sz="327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4854275" y="-7348354"/>
            <a:ext cx="8579451" cy="8532654"/>
          </a:xfrm>
          <a:custGeom>
            <a:avLst/>
            <a:gdLst/>
            <a:ahLst/>
            <a:cxnLst/>
            <a:rect r="r" b="b" t="t" l="l"/>
            <a:pathLst>
              <a:path h="8532654" w="8579451">
                <a:moveTo>
                  <a:pt x="0" y="0"/>
                </a:moveTo>
                <a:lnTo>
                  <a:pt x="8579450" y="0"/>
                </a:lnTo>
                <a:lnTo>
                  <a:pt x="8579450" y="8532654"/>
                </a:lnTo>
                <a:lnTo>
                  <a:pt x="0" y="85326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786939" y="9540136"/>
            <a:ext cx="23861879" cy="1715718"/>
            <a:chOff x="0" y="0"/>
            <a:chExt cx="6284610" cy="451876"/>
          </a:xfrm>
        </p:grpSpPr>
        <p:sp>
          <p:nvSpPr>
            <p:cNvPr name="Freeform 4" id="4"/>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5" id="5"/>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6" id="6"/>
          <p:cNvSpPr/>
          <p:nvPr/>
        </p:nvSpPr>
        <p:spPr>
          <a:xfrm flipH="false" flipV="false" rot="0">
            <a:off x="13704385" y="8348356"/>
            <a:ext cx="4959028" cy="7452091"/>
          </a:xfrm>
          <a:custGeom>
            <a:avLst/>
            <a:gdLst/>
            <a:ahLst/>
            <a:cxnLst/>
            <a:rect r="r" b="b" t="t" l="l"/>
            <a:pathLst>
              <a:path h="7452091" w="4959028">
                <a:moveTo>
                  <a:pt x="0" y="0"/>
                </a:moveTo>
                <a:lnTo>
                  <a:pt x="4959028" y="0"/>
                </a:lnTo>
                <a:lnTo>
                  <a:pt x="4959028" y="7452092"/>
                </a:lnTo>
                <a:lnTo>
                  <a:pt x="0" y="7452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632515" y="8348356"/>
            <a:ext cx="4959028" cy="7452091"/>
          </a:xfrm>
          <a:custGeom>
            <a:avLst/>
            <a:gdLst/>
            <a:ahLst/>
            <a:cxnLst/>
            <a:rect r="r" b="b" t="t" l="l"/>
            <a:pathLst>
              <a:path h="7452091" w="4959028">
                <a:moveTo>
                  <a:pt x="4959028" y="0"/>
                </a:moveTo>
                <a:lnTo>
                  <a:pt x="0" y="0"/>
                </a:lnTo>
                <a:lnTo>
                  <a:pt x="0" y="7452092"/>
                </a:lnTo>
                <a:lnTo>
                  <a:pt x="4959028" y="7452092"/>
                </a:lnTo>
                <a:lnTo>
                  <a:pt x="49590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494897" y="2041093"/>
            <a:ext cx="9209488" cy="5046799"/>
          </a:xfrm>
          <a:custGeom>
            <a:avLst/>
            <a:gdLst/>
            <a:ahLst/>
            <a:cxnLst/>
            <a:rect r="r" b="b" t="t" l="l"/>
            <a:pathLst>
              <a:path h="5046799" w="9209488">
                <a:moveTo>
                  <a:pt x="0" y="0"/>
                </a:moveTo>
                <a:lnTo>
                  <a:pt x="9209488" y="0"/>
                </a:lnTo>
                <a:lnTo>
                  <a:pt x="9209488" y="5046799"/>
                </a:lnTo>
                <a:lnTo>
                  <a:pt x="0" y="5046799"/>
                </a:lnTo>
                <a:lnTo>
                  <a:pt x="0" y="0"/>
                </a:lnTo>
                <a:close/>
              </a:path>
            </a:pathLst>
          </a:custGeom>
          <a:blipFill>
            <a:blip r:embed="rId6"/>
            <a:stretch>
              <a:fillRect l="0" t="0" r="0" b="0"/>
            </a:stretch>
          </a:blipFill>
        </p:spPr>
      </p:sp>
      <p:sp>
        <p:nvSpPr>
          <p:cNvPr name="Freeform 9" id="9"/>
          <p:cNvSpPr/>
          <p:nvPr/>
        </p:nvSpPr>
        <p:spPr>
          <a:xfrm flipH="false" flipV="false" rot="0">
            <a:off x="9685877" y="7372681"/>
            <a:ext cx="5925630" cy="1951351"/>
          </a:xfrm>
          <a:custGeom>
            <a:avLst/>
            <a:gdLst/>
            <a:ahLst/>
            <a:cxnLst/>
            <a:rect r="r" b="b" t="t" l="l"/>
            <a:pathLst>
              <a:path h="1951351" w="5925630">
                <a:moveTo>
                  <a:pt x="0" y="0"/>
                </a:moveTo>
                <a:lnTo>
                  <a:pt x="5925629" y="0"/>
                </a:lnTo>
                <a:lnTo>
                  <a:pt x="5925629" y="1951351"/>
                </a:lnTo>
                <a:lnTo>
                  <a:pt x="0" y="1951351"/>
                </a:lnTo>
                <a:lnTo>
                  <a:pt x="0" y="0"/>
                </a:lnTo>
                <a:close/>
              </a:path>
            </a:pathLst>
          </a:custGeom>
          <a:blipFill>
            <a:blip r:embed="rId7"/>
            <a:stretch>
              <a:fillRect l="0" t="-36213" r="0" b="0"/>
            </a:stretch>
          </a:blipFill>
        </p:spPr>
      </p:sp>
      <p:sp>
        <p:nvSpPr>
          <p:cNvPr name="TextBox 10" id="10"/>
          <p:cNvSpPr txBox="true"/>
          <p:nvPr/>
        </p:nvSpPr>
        <p:spPr>
          <a:xfrm rot="0">
            <a:off x="514350" y="1098575"/>
            <a:ext cx="17259300" cy="1317750"/>
          </a:xfrm>
          <a:prstGeom prst="rect">
            <a:avLst/>
          </a:prstGeom>
        </p:spPr>
        <p:txBody>
          <a:bodyPr anchor="t" rtlCol="false" tIns="0" lIns="0" bIns="0" rIns="0">
            <a:spAutoFit/>
          </a:bodyPr>
          <a:lstStyle/>
          <a:p>
            <a:pPr algn="ctr">
              <a:lnSpc>
                <a:spcPts val="5227"/>
              </a:lnSpc>
            </a:pPr>
            <a:r>
              <a:rPr lang="en-US" sz="3733">
                <a:solidFill>
                  <a:srgbClr val="FFFFFF"/>
                </a:solidFill>
                <a:latin typeface="Canva Sans Bold"/>
                <a:ea typeface="Canva Sans Bold"/>
                <a:cs typeface="Canva Sans Bold"/>
                <a:sym typeface="Canva Sans Bold"/>
              </a:rPr>
              <a:t>10) Determine the top 3 most ordered pizza types based on revenue.</a:t>
            </a:r>
          </a:p>
          <a:p>
            <a:pPr algn="ctr">
              <a:lnSpc>
                <a:spcPts val="5227"/>
              </a:lnSpc>
            </a:pPr>
            <a:r>
              <a:rPr lang="en-US" sz="3733">
                <a:solidFill>
                  <a:srgbClr val="FFFFFF"/>
                </a:solidFill>
                <a:latin typeface="Canva Sans Bold"/>
                <a:ea typeface="Canva Sans Bold"/>
                <a:cs typeface="Canva Sans Bold"/>
                <a:sym typeface="Canva Sans Bold"/>
              </a:rPr>
              <a:t> </a:t>
            </a:r>
          </a:p>
        </p:txBody>
      </p:sp>
      <p:sp>
        <p:nvSpPr>
          <p:cNvPr name="TextBox 11" id="11"/>
          <p:cNvSpPr txBox="true"/>
          <p:nvPr/>
        </p:nvSpPr>
        <p:spPr>
          <a:xfrm rot="0">
            <a:off x="6054477" y="7857184"/>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2" id="12"/>
          <p:cNvSpPr txBox="true"/>
          <p:nvPr/>
        </p:nvSpPr>
        <p:spPr>
          <a:xfrm rot="0">
            <a:off x="1477496" y="3677397"/>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15789542" y="914457"/>
            <a:ext cx="9135758" cy="8625679"/>
          </a:xfrm>
          <a:custGeom>
            <a:avLst/>
            <a:gdLst/>
            <a:ahLst/>
            <a:cxnLst/>
            <a:rect r="r" b="b" t="t" l="l"/>
            <a:pathLst>
              <a:path h="8625679" w="9135758">
                <a:moveTo>
                  <a:pt x="0" y="0"/>
                </a:moveTo>
                <a:lnTo>
                  <a:pt x="9135758" y="0"/>
                </a:lnTo>
                <a:lnTo>
                  <a:pt x="9135758" y="8625679"/>
                </a:lnTo>
                <a:lnTo>
                  <a:pt x="0" y="8625679"/>
                </a:lnTo>
                <a:lnTo>
                  <a:pt x="0" y="0"/>
                </a:lnTo>
                <a:close/>
              </a:path>
            </a:pathLst>
          </a:custGeom>
          <a:blipFill>
            <a:blip r:embed="rId2"/>
            <a:stretch>
              <a:fillRect l="0" t="0" r="0" b="0"/>
            </a:stretch>
          </a:blipFill>
        </p:spPr>
      </p:sp>
      <p:sp>
        <p:nvSpPr>
          <p:cNvPr name="Freeform 3" id="3"/>
          <p:cNvSpPr/>
          <p:nvPr/>
        </p:nvSpPr>
        <p:spPr>
          <a:xfrm flipH="true" flipV="false" rot="0">
            <a:off x="-6988676" y="783088"/>
            <a:ext cx="9414034" cy="8888417"/>
          </a:xfrm>
          <a:custGeom>
            <a:avLst/>
            <a:gdLst/>
            <a:ahLst/>
            <a:cxnLst/>
            <a:rect r="r" b="b" t="t" l="l"/>
            <a:pathLst>
              <a:path h="8888417" w="9414034">
                <a:moveTo>
                  <a:pt x="9414034" y="0"/>
                </a:moveTo>
                <a:lnTo>
                  <a:pt x="0" y="0"/>
                </a:lnTo>
                <a:lnTo>
                  <a:pt x="0" y="8888417"/>
                </a:lnTo>
                <a:lnTo>
                  <a:pt x="9414034" y="8888417"/>
                </a:lnTo>
                <a:lnTo>
                  <a:pt x="9414034" y="0"/>
                </a:lnTo>
                <a:close/>
              </a:path>
            </a:pathLst>
          </a:custGeom>
          <a:blipFill>
            <a:blip r:embed="rId2"/>
            <a:stretch>
              <a:fillRect l="0" t="0" r="0" b="0"/>
            </a:stretch>
          </a:blipFill>
        </p:spPr>
      </p:sp>
      <p:grpSp>
        <p:nvGrpSpPr>
          <p:cNvPr name="Group 4" id="4"/>
          <p:cNvGrpSpPr/>
          <p:nvPr/>
        </p:nvGrpSpPr>
        <p:grpSpPr>
          <a:xfrm rot="0">
            <a:off x="-2786939" y="9540136"/>
            <a:ext cx="23861879" cy="1715718"/>
            <a:chOff x="0" y="0"/>
            <a:chExt cx="6284610" cy="451876"/>
          </a:xfrm>
        </p:grpSpPr>
        <p:sp>
          <p:nvSpPr>
            <p:cNvPr name="Freeform 5" id="5"/>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6" id="6"/>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7" id="7"/>
          <p:cNvSpPr/>
          <p:nvPr/>
        </p:nvSpPr>
        <p:spPr>
          <a:xfrm flipH="false" flipV="false" rot="0">
            <a:off x="4770777" y="2032898"/>
            <a:ext cx="8324582" cy="4921576"/>
          </a:xfrm>
          <a:custGeom>
            <a:avLst/>
            <a:gdLst/>
            <a:ahLst/>
            <a:cxnLst/>
            <a:rect r="r" b="b" t="t" l="l"/>
            <a:pathLst>
              <a:path h="4921576" w="8324582">
                <a:moveTo>
                  <a:pt x="0" y="0"/>
                </a:moveTo>
                <a:lnTo>
                  <a:pt x="8324582" y="0"/>
                </a:lnTo>
                <a:lnTo>
                  <a:pt x="8324582" y="4921576"/>
                </a:lnTo>
                <a:lnTo>
                  <a:pt x="0" y="4921576"/>
                </a:lnTo>
                <a:lnTo>
                  <a:pt x="0" y="0"/>
                </a:lnTo>
                <a:close/>
              </a:path>
            </a:pathLst>
          </a:custGeom>
          <a:blipFill>
            <a:blip r:embed="rId3"/>
            <a:stretch>
              <a:fillRect l="0" t="-556" r="-217" b="-556"/>
            </a:stretch>
          </a:blipFill>
        </p:spPr>
      </p:sp>
      <p:sp>
        <p:nvSpPr>
          <p:cNvPr name="Freeform 8" id="8"/>
          <p:cNvSpPr/>
          <p:nvPr/>
        </p:nvSpPr>
        <p:spPr>
          <a:xfrm flipH="false" flipV="false" rot="0">
            <a:off x="9975818" y="7163252"/>
            <a:ext cx="4469455" cy="1959328"/>
          </a:xfrm>
          <a:custGeom>
            <a:avLst/>
            <a:gdLst/>
            <a:ahLst/>
            <a:cxnLst/>
            <a:rect r="r" b="b" t="t" l="l"/>
            <a:pathLst>
              <a:path h="1959328" w="4469455">
                <a:moveTo>
                  <a:pt x="0" y="0"/>
                </a:moveTo>
                <a:lnTo>
                  <a:pt x="4469455" y="0"/>
                </a:lnTo>
                <a:lnTo>
                  <a:pt x="4469455" y="1959328"/>
                </a:lnTo>
                <a:lnTo>
                  <a:pt x="0" y="1959328"/>
                </a:lnTo>
                <a:lnTo>
                  <a:pt x="0" y="0"/>
                </a:lnTo>
                <a:close/>
              </a:path>
            </a:pathLst>
          </a:custGeom>
          <a:blipFill>
            <a:blip r:embed="rId4"/>
            <a:stretch>
              <a:fillRect l="0" t="-30934" r="0" b="0"/>
            </a:stretch>
          </a:blipFill>
        </p:spPr>
      </p:sp>
      <p:sp>
        <p:nvSpPr>
          <p:cNvPr name="TextBox 9" id="9"/>
          <p:cNvSpPr txBox="true"/>
          <p:nvPr/>
        </p:nvSpPr>
        <p:spPr>
          <a:xfrm rot="0">
            <a:off x="665800" y="147555"/>
            <a:ext cx="16956401" cy="1676565"/>
          </a:xfrm>
          <a:prstGeom prst="rect">
            <a:avLst/>
          </a:prstGeom>
        </p:spPr>
        <p:txBody>
          <a:bodyPr anchor="t" rtlCol="false" tIns="0" lIns="0" bIns="0" rIns="0">
            <a:spAutoFit/>
          </a:bodyPr>
          <a:lstStyle/>
          <a:p>
            <a:pPr algn="ctr">
              <a:lnSpc>
                <a:spcPts val="6749"/>
              </a:lnSpc>
            </a:pPr>
            <a:r>
              <a:rPr lang="en-US" sz="4821">
                <a:solidFill>
                  <a:srgbClr val="FFFFFF"/>
                </a:solidFill>
                <a:latin typeface="Canva Sans Bold"/>
                <a:ea typeface="Canva Sans Bold"/>
                <a:cs typeface="Canva Sans Bold"/>
                <a:sym typeface="Canva Sans Bold"/>
              </a:rPr>
              <a:t>11) Calculate the percentage contribution of each pizza type to total revenue. </a:t>
            </a:r>
          </a:p>
        </p:txBody>
      </p:sp>
      <p:sp>
        <p:nvSpPr>
          <p:cNvPr name="TextBox 10" id="10"/>
          <p:cNvSpPr txBox="true"/>
          <p:nvPr/>
        </p:nvSpPr>
        <p:spPr>
          <a:xfrm rot="0">
            <a:off x="5843545" y="7651744"/>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1" id="11"/>
          <p:cNvSpPr txBox="true"/>
          <p:nvPr/>
        </p:nvSpPr>
        <p:spPr>
          <a:xfrm rot="0">
            <a:off x="1769518" y="2069360"/>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16071134" y="-3262230"/>
            <a:ext cx="8716258" cy="8229600"/>
          </a:xfrm>
          <a:custGeom>
            <a:avLst/>
            <a:gdLst/>
            <a:ahLst/>
            <a:cxnLst/>
            <a:rect r="r" b="b" t="t" l="l"/>
            <a:pathLst>
              <a:path h="8229600" w="8716258">
                <a:moveTo>
                  <a:pt x="0" y="0"/>
                </a:moveTo>
                <a:lnTo>
                  <a:pt x="8716258" y="0"/>
                </a:lnTo>
                <a:lnTo>
                  <a:pt x="8716258"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6322008" y="-2718304"/>
            <a:ext cx="8716258" cy="8229600"/>
          </a:xfrm>
          <a:custGeom>
            <a:avLst/>
            <a:gdLst/>
            <a:ahLst/>
            <a:cxnLst/>
            <a:rect r="r" b="b" t="t" l="l"/>
            <a:pathLst>
              <a:path h="8229600" w="8716258">
                <a:moveTo>
                  <a:pt x="0" y="0"/>
                </a:moveTo>
                <a:lnTo>
                  <a:pt x="8716258" y="0"/>
                </a:lnTo>
                <a:lnTo>
                  <a:pt x="8716258" y="8229600"/>
                </a:lnTo>
                <a:lnTo>
                  <a:pt x="0" y="8229600"/>
                </a:lnTo>
                <a:lnTo>
                  <a:pt x="0" y="0"/>
                </a:lnTo>
                <a:close/>
              </a:path>
            </a:pathLst>
          </a:custGeom>
          <a:blipFill>
            <a:blip r:embed="rId2"/>
            <a:stretch>
              <a:fillRect l="0" t="0" r="0" b="0"/>
            </a:stretch>
          </a:blipFill>
        </p:spPr>
      </p:sp>
      <p:grpSp>
        <p:nvGrpSpPr>
          <p:cNvPr name="Group 4" id="4"/>
          <p:cNvGrpSpPr/>
          <p:nvPr/>
        </p:nvGrpSpPr>
        <p:grpSpPr>
          <a:xfrm rot="0">
            <a:off x="-2786939" y="9540136"/>
            <a:ext cx="23861879" cy="1715718"/>
            <a:chOff x="0" y="0"/>
            <a:chExt cx="6284610" cy="451876"/>
          </a:xfrm>
        </p:grpSpPr>
        <p:sp>
          <p:nvSpPr>
            <p:cNvPr name="Freeform 5" id="5"/>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6" id="6"/>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7" id="7"/>
          <p:cNvSpPr/>
          <p:nvPr/>
        </p:nvSpPr>
        <p:spPr>
          <a:xfrm flipH="false" flipV="false" rot="266846">
            <a:off x="16946541" y="5550455"/>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10629">
            <a:off x="1326844" y="8239439"/>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387305">
            <a:off x="16562188" y="8374896"/>
            <a:ext cx="2485981" cy="1889345"/>
          </a:xfrm>
          <a:custGeom>
            <a:avLst/>
            <a:gdLst/>
            <a:ahLst/>
            <a:cxnLst/>
            <a:rect r="r" b="b" t="t" l="l"/>
            <a:pathLst>
              <a:path h="1889345" w="2485981">
                <a:moveTo>
                  <a:pt x="0" y="0"/>
                </a:moveTo>
                <a:lnTo>
                  <a:pt x="2485981" y="0"/>
                </a:lnTo>
                <a:lnTo>
                  <a:pt x="2485981" y="1889345"/>
                </a:lnTo>
                <a:lnTo>
                  <a:pt x="0" y="18893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387305">
            <a:off x="-853929" y="4775071"/>
            <a:ext cx="2412096" cy="1833193"/>
          </a:xfrm>
          <a:custGeom>
            <a:avLst/>
            <a:gdLst/>
            <a:ahLst/>
            <a:cxnLst/>
            <a:rect r="r" b="b" t="t" l="l"/>
            <a:pathLst>
              <a:path h="1833193" w="2412096">
                <a:moveTo>
                  <a:pt x="0" y="0"/>
                </a:moveTo>
                <a:lnTo>
                  <a:pt x="2412097" y="0"/>
                </a:lnTo>
                <a:lnTo>
                  <a:pt x="2412097" y="1833193"/>
                </a:lnTo>
                <a:lnTo>
                  <a:pt x="0" y="18331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484579" y="3491622"/>
            <a:ext cx="7754724" cy="3953389"/>
          </a:xfrm>
          <a:custGeom>
            <a:avLst/>
            <a:gdLst/>
            <a:ahLst/>
            <a:cxnLst/>
            <a:rect r="r" b="b" t="t" l="l"/>
            <a:pathLst>
              <a:path h="3953389" w="7754724">
                <a:moveTo>
                  <a:pt x="0" y="0"/>
                </a:moveTo>
                <a:lnTo>
                  <a:pt x="7754724" y="0"/>
                </a:lnTo>
                <a:lnTo>
                  <a:pt x="7754724" y="3953388"/>
                </a:lnTo>
                <a:lnTo>
                  <a:pt x="0" y="3953388"/>
                </a:lnTo>
                <a:lnTo>
                  <a:pt x="0" y="0"/>
                </a:lnTo>
                <a:close/>
              </a:path>
            </a:pathLst>
          </a:custGeom>
          <a:blipFill>
            <a:blip r:embed="rId9"/>
            <a:stretch>
              <a:fillRect l="0" t="0" r="0" b="0"/>
            </a:stretch>
          </a:blipFill>
        </p:spPr>
      </p:sp>
      <p:sp>
        <p:nvSpPr>
          <p:cNvPr name="Freeform 12" id="12"/>
          <p:cNvSpPr/>
          <p:nvPr/>
        </p:nvSpPr>
        <p:spPr>
          <a:xfrm flipH="false" flipV="false" rot="0">
            <a:off x="9690721" y="3045270"/>
            <a:ext cx="3350344" cy="4932052"/>
          </a:xfrm>
          <a:custGeom>
            <a:avLst/>
            <a:gdLst/>
            <a:ahLst/>
            <a:cxnLst/>
            <a:rect r="r" b="b" t="t" l="l"/>
            <a:pathLst>
              <a:path h="4932052" w="3350344">
                <a:moveTo>
                  <a:pt x="0" y="0"/>
                </a:moveTo>
                <a:lnTo>
                  <a:pt x="3350344" y="0"/>
                </a:lnTo>
                <a:lnTo>
                  <a:pt x="3350344" y="4932052"/>
                </a:lnTo>
                <a:lnTo>
                  <a:pt x="0" y="4932052"/>
                </a:lnTo>
                <a:lnTo>
                  <a:pt x="0" y="0"/>
                </a:lnTo>
                <a:close/>
              </a:path>
            </a:pathLst>
          </a:custGeom>
          <a:blipFill>
            <a:blip r:embed="rId10"/>
            <a:stretch>
              <a:fillRect l="0" t="0" r="0" b="0"/>
            </a:stretch>
          </a:blipFill>
        </p:spPr>
      </p:sp>
      <p:sp>
        <p:nvSpPr>
          <p:cNvPr name="Freeform 13" id="13"/>
          <p:cNvSpPr/>
          <p:nvPr/>
        </p:nvSpPr>
        <p:spPr>
          <a:xfrm flipH="false" flipV="false" rot="0">
            <a:off x="13526992" y="3045270"/>
            <a:ext cx="3380390" cy="4976283"/>
          </a:xfrm>
          <a:custGeom>
            <a:avLst/>
            <a:gdLst/>
            <a:ahLst/>
            <a:cxnLst/>
            <a:rect r="r" b="b" t="t" l="l"/>
            <a:pathLst>
              <a:path h="4976283" w="3380390">
                <a:moveTo>
                  <a:pt x="0" y="0"/>
                </a:moveTo>
                <a:lnTo>
                  <a:pt x="3380390" y="0"/>
                </a:lnTo>
                <a:lnTo>
                  <a:pt x="3380390" y="4976283"/>
                </a:lnTo>
                <a:lnTo>
                  <a:pt x="0" y="4976283"/>
                </a:lnTo>
                <a:lnTo>
                  <a:pt x="0" y="0"/>
                </a:lnTo>
                <a:close/>
              </a:path>
            </a:pathLst>
          </a:custGeom>
          <a:blipFill>
            <a:blip r:embed="rId11"/>
            <a:stretch>
              <a:fillRect l="0" t="0" r="0" b="0"/>
            </a:stretch>
          </a:blipFill>
        </p:spPr>
      </p:sp>
      <p:sp>
        <p:nvSpPr>
          <p:cNvPr name="TextBox 14" id="14"/>
          <p:cNvSpPr txBox="true"/>
          <p:nvPr/>
        </p:nvSpPr>
        <p:spPr>
          <a:xfrm rot="0">
            <a:off x="2578558" y="-57151"/>
            <a:ext cx="13308268" cy="1453647"/>
          </a:xfrm>
          <a:prstGeom prst="rect">
            <a:avLst/>
          </a:prstGeom>
        </p:spPr>
        <p:txBody>
          <a:bodyPr anchor="t" rtlCol="false" tIns="0" lIns="0" bIns="0" rIns="0">
            <a:spAutoFit/>
          </a:bodyPr>
          <a:lstStyle/>
          <a:p>
            <a:pPr algn="ctr">
              <a:lnSpc>
                <a:spcPts val="5844"/>
              </a:lnSpc>
            </a:pPr>
            <a:r>
              <a:rPr lang="en-US" sz="4174">
                <a:solidFill>
                  <a:srgbClr val="FFFFFF"/>
                </a:solidFill>
                <a:latin typeface="Canva Sans Bold"/>
                <a:ea typeface="Canva Sans Bold"/>
                <a:cs typeface="Canva Sans Bold"/>
                <a:sym typeface="Canva Sans Bold"/>
              </a:rPr>
              <a:t>12) Analyze the cumulative revenue generated over time.</a:t>
            </a:r>
          </a:p>
        </p:txBody>
      </p:sp>
      <p:sp>
        <p:nvSpPr>
          <p:cNvPr name="TextBox 15" id="15"/>
          <p:cNvSpPr txBox="true"/>
          <p:nvPr/>
        </p:nvSpPr>
        <p:spPr>
          <a:xfrm rot="0">
            <a:off x="11496304" y="1729711"/>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6" id="16"/>
          <p:cNvSpPr txBox="true"/>
          <p:nvPr/>
        </p:nvSpPr>
        <p:spPr>
          <a:xfrm rot="0">
            <a:off x="2812639" y="2158175"/>
            <a:ext cx="2849017"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sp>
        <p:nvSpPr>
          <p:cNvPr name="Freeform 2" id="2"/>
          <p:cNvSpPr/>
          <p:nvPr/>
        </p:nvSpPr>
        <p:spPr>
          <a:xfrm flipH="false" flipV="false" rot="0">
            <a:off x="4450415" y="-6794584"/>
            <a:ext cx="8898496" cy="8477840"/>
          </a:xfrm>
          <a:custGeom>
            <a:avLst/>
            <a:gdLst/>
            <a:ahLst/>
            <a:cxnLst/>
            <a:rect r="r" b="b" t="t" l="l"/>
            <a:pathLst>
              <a:path h="8477840" w="8898496">
                <a:moveTo>
                  <a:pt x="0" y="0"/>
                </a:moveTo>
                <a:lnTo>
                  <a:pt x="8898497" y="0"/>
                </a:lnTo>
                <a:lnTo>
                  <a:pt x="8898497" y="8477840"/>
                </a:lnTo>
                <a:lnTo>
                  <a:pt x="0" y="84778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786939" y="9540136"/>
            <a:ext cx="23861879" cy="1715718"/>
            <a:chOff x="0" y="0"/>
            <a:chExt cx="6284610" cy="451876"/>
          </a:xfrm>
        </p:grpSpPr>
        <p:sp>
          <p:nvSpPr>
            <p:cNvPr name="Freeform 4" id="4"/>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5" id="5"/>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6" id="6"/>
          <p:cNvSpPr/>
          <p:nvPr/>
        </p:nvSpPr>
        <p:spPr>
          <a:xfrm flipH="false" flipV="false" rot="266846">
            <a:off x="16790406" y="6248593"/>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10629">
            <a:off x="372652" y="6161938"/>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234866">
            <a:off x="15610623" y="-2267000"/>
            <a:ext cx="4959028" cy="7452091"/>
          </a:xfrm>
          <a:custGeom>
            <a:avLst/>
            <a:gdLst/>
            <a:ahLst/>
            <a:cxnLst/>
            <a:rect r="r" b="b" t="t" l="l"/>
            <a:pathLst>
              <a:path h="7452091" w="4959028">
                <a:moveTo>
                  <a:pt x="0" y="0"/>
                </a:moveTo>
                <a:lnTo>
                  <a:pt x="4959028" y="0"/>
                </a:lnTo>
                <a:lnTo>
                  <a:pt x="4959028" y="7452091"/>
                </a:lnTo>
                <a:lnTo>
                  <a:pt x="0" y="74520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1143330">
            <a:off x="-2123495" y="-2267000"/>
            <a:ext cx="4959028" cy="7452091"/>
          </a:xfrm>
          <a:custGeom>
            <a:avLst/>
            <a:gdLst/>
            <a:ahLst/>
            <a:cxnLst/>
            <a:rect r="r" b="b" t="t" l="l"/>
            <a:pathLst>
              <a:path h="7452091" w="4959028">
                <a:moveTo>
                  <a:pt x="4959028" y="0"/>
                </a:moveTo>
                <a:lnTo>
                  <a:pt x="0" y="0"/>
                </a:lnTo>
                <a:lnTo>
                  <a:pt x="0" y="7452091"/>
                </a:lnTo>
                <a:lnTo>
                  <a:pt x="4959028" y="7452091"/>
                </a:lnTo>
                <a:lnTo>
                  <a:pt x="49590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87305">
            <a:off x="-733079" y="8225048"/>
            <a:ext cx="2485981" cy="1889345"/>
          </a:xfrm>
          <a:custGeom>
            <a:avLst/>
            <a:gdLst/>
            <a:ahLst/>
            <a:cxnLst/>
            <a:rect r="r" b="b" t="t" l="l"/>
            <a:pathLst>
              <a:path h="1889345" w="2485981">
                <a:moveTo>
                  <a:pt x="0" y="0"/>
                </a:moveTo>
                <a:lnTo>
                  <a:pt x="2485981" y="0"/>
                </a:lnTo>
                <a:lnTo>
                  <a:pt x="2485981" y="1889345"/>
                </a:lnTo>
                <a:lnTo>
                  <a:pt x="0" y="18893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387305">
            <a:off x="16981796" y="7736192"/>
            <a:ext cx="2216682" cy="1684679"/>
          </a:xfrm>
          <a:custGeom>
            <a:avLst/>
            <a:gdLst/>
            <a:ahLst/>
            <a:cxnLst/>
            <a:rect r="r" b="b" t="t" l="l"/>
            <a:pathLst>
              <a:path h="1684679" w="2216682">
                <a:moveTo>
                  <a:pt x="0" y="0"/>
                </a:moveTo>
                <a:lnTo>
                  <a:pt x="2216682" y="0"/>
                </a:lnTo>
                <a:lnTo>
                  <a:pt x="2216682" y="1684679"/>
                </a:lnTo>
                <a:lnTo>
                  <a:pt x="0" y="16846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2358121" y="1815800"/>
            <a:ext cx="7543613" cy="4329506"/>
          </a:xfrm>
          <a:custGeom>
            <a:avLst/>
            <a:gdLst/>
            <a:ahLst/>
            <a:cxnLst/>
            <a:rect r="r" b="b" t="t" l="l"/>
            <a:pathLst>
              <a:path h="4329506" w="7543613">
                <a:moveTo>
                  <a:pt x="0" y="0"/>
                </a:moveTo>
                <a:lnTo>
                  <a:pt x="7543613" y="0"/>
                </a:lnTo>
                <a:lnTo>
                  <a:pt x="7543613" y="4329505"/>
                </a:lnTo>
                <a:lnTo>
                  <a:pt x="0" y="4329505"/>
                </a:lnTo>
                <a:lnTo>
                  <a:pt x="0" y="0"/>
                </a:lnTo>
                <a:close/>
              </a:path>
            </a:pathLst>
          </a:custGeom>
          <a:blipFill>
            <a:blip r:embed="rId12"/>
            <a:stretch>
              <a:fillRect l="0" t="0" r="0" b="0"/>
            </a:stretch>
          </a:blipFill>
        </p:spPr>
      </p:sp>
      <p:sp>
        <p:nvSpPr>
          <p:cNvPr name="Freeform 13" id="13"/>
          <p:cNvSpPr/>
          <p:nvPr/>
        </p:nvSpPr>
        <p:spPr>
          <a:xfrm flipH="false" flipV="false" rot="0">
            <a:off x="10068832" y="6334953"/>
            <a:ext cx="6825290" cy="3913194"/>
          </a:xfrm>
          <a:custGeom>
            <a:avLst/>
            <a:gdLst/>
            <a:ahLst/>
            <a:cxnLst/>
            <a:rect r="r" b="b" t="t" l="l"/>
            <a:pathLst>
              <a:path h="3913194" w="6825290">
                <a:moveTo>
                  <a:pt x="0" y="0"/>
                </a:moveTo>
                <a:lnTo>
                  <a:pt x="6825291" y="0"/>
                </a:lnTo>
                <a:lnTo>
                  <a:pt x="6825291" y="3913194"/>
                </a:lnTo>
                <a:lnTo>
                  <a:pt x="0" y="3913194"/>
                </a:lnTo>
                <a:lnTo>
                  <a:pt x="0" y="0"/>
                </a:lnTo>
                <a:close/>
              </a:path>
            </a:pathLst>
          </a:custGeom>
          <a:blipFill>
            <a:blip r:embed="rId13"/>
            <a:stretch>
              <a:fillRect l="0" t="-12344" r="0" b="0"/>
            </a:stretch>
          </a:blipFill>
        </p:spPr>
      </p:sp>
      <p:sp>
        <p:nvSpPr>
          <p:cNvPr name="TextBox 14" id="14"/>
          <p:cNvSpPr txBox="true"/>
          <p:nvPr/>
        </p:nvSpPr>
        <p:spPr>
          <a:xfrm rot="0">
            <a:off x="2358121" y="315853"/>
            <a:ext cx="13571758" cy="1349495"/>
          </a:xfrm>
          <a:prstGeom prst="rect">
            <a:avLst/>
          </a:prstGeom>
        </p:spPr>
        <p:txBody>
          <a:bodyPr anchor="t" rtlCol="false" tIns="0" lIns="0" bIns="0" rIns="0">
            <a:spAutoFit/>
          </a:bodyPr>
          <a:lstStyle/>
          <a:p>
            <a:pPr algn="ctr">
              <a:lnSpc>
                <a:spcPts val="5402"/>
              </a:lnSpc>
            </a:pPr>
            <a:r>
              <a:rPr lang="en-US" sz="3858">
                <a:solidFill>
                  <a:srgbClr val="FFFFFF"/>
                </a:solidFill>
                <a:latin typeface="Canva Sans Bold"/>
                <a:ea typeface="Canva Sans Bold"/>
                <a:cs typeface="Canva Sans Bold"/>
                <a:sym typeface="Canva Sans Bold"/>
              </a:rPr>
              <a:t>13) Determine the top 3 most ordered pizza types based on revenue for each pizza category.</a:t>
            </a:r>
          </a:p>
        </p:txBody>
      </p:sp>
      <p:sp>
        <p:nvSpPr>
          <p:cNvPr name="TextBox 15" id="15"/>
          <p:cNvSpPr txBox="true"/>
          <p:nvPr/>
        </p:nvSpPr>
        <p:spPr>
          <a:xfrm rot="0">
            <a:off x="5946273" y="7800377"/>
            <a:ext cx="3089523"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ea typeface="Canva Sans Bold"/>
                <a:cs typeface="Canva Sans Bold"/>
                <a:sym typeface="Canva Sans Bold"/>
              </a:rPr>
              <a:t>RESULT - </a:t>
            </a:r>
          </a:p>
        </p:txBody>
      </p:sp>
      <p:sp>
        <p:nvSpPr>
          <p:cNvPr name="TextBox 16" id="16"/>
          <p:cNvSpPr txBox="true"/>
          <p:nvPr/>
        </p:nvSpPr>
        <p:spPr>
          <a:xfrm rot="0">
            <a:off x="356019" y="3637939"/>
            <a:ext cx="1985624" cy="618552"/>
          </a:xfrm>
          <a:prstGeom prst="rect">
            <a:avLst/>
          </a:prstGeom>
        </p:spPr>
        <p:txBody>
          <a:bodyPr anchor="t" rtlCol="false" tIns="0" lIns="0" bIns="0" rIns="0">
            <a:spAutoFit/>
          </a:bodyPr>
          <a:lstStyle/>
          <a:p>
            <a:pPr algn="ctr">
              <a:lnSpc>
                <a:spcPts val="5073"/>
              </a:lnSpc>
            </a:pPr>
            <a:r>
              <a:rPr lang="en-US" sz="3624">
                <a:solidFill>
                  <a:srgbClr val="FFFFFF"/>
                </a:solidFill>
                <a:latin typeface="Canva Sans Bold"/>
                <a:ea typeface="Canva Sans Bold"/>
                <a:cs typeface="Canva Sans Bold"/>
                <a:sym typeface="Canva Sans Bold"/>
              </a:rPr>
              <a:t>QUERY -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9B332C"/>
        </a:solidFill>
      </p:bgPr>
    </p:bg>
    <p:spTree>
      <p:nvGrpSpPr>
        <p:cNvPr id="1" name=""/>
        <p:cNvGrpSpPr/>
        <p:nvPr/>
      </p:nvGrpSpPr>
      <p:grpSpPr>
        <a:xfrm>
          <a:off x="0" y="0"/>
          <a:ext cx="0" cy="0"/>
          <a:chOff x="0" y="0"/>
          <a:chExt cx="0" cy="0"/>
        </a:xfrm>
      </p:grpSpPr>
      <p:grpSp>
        <p:nvGrpSpPr>
          <p:cNvPr name="Group 2" id="2"/>
          <p:cNvGrpSpPr/>
          <p:nvPr/>
        </p:nvGrpSpPr>
        <p:grpSpPr>
          <a:xfrm rot="0">
            <a:off x="-2786939" y="9540136"/>
            <a:ext cx="23861879" cy="1715718"/>
            <a:chOff x="0" y="0"/>
            <a:chExt cx="6284610" cy="451876"/>
          </a:xfrm>
        </p:grpSpPr>
        <p:sp>
          <p:nvSpPr>
            <p:cNvPr name="Freeform 3" id="3"/>
            <p:cNvSpPr/>
            <p:nvPr/>
          </p:nvSpPr>
          <p:spPr>
            <a:xfrm flipH="false" flipV="false" rot="0">
              <a:off x="0" y="0"/>
              <a:ext cx="6284610" cy="451876"/>
            </a:xfrm>
            <a:custGeom>
              <a:avLst/>
              <a:gdLst/>
              <a:ahLst/>
              <a:cxnLst/>
              <a:rect r="r" b="b" t="t" l="l"/>
              <a:pathLst>
                <a:path h="451876" w="6284610">
                  <a:moveTo>
                    <a:pt x="3142305" y="0"/>
                  </a:moveTo>
                  <a:cubicBezTo>
                    <a:pt x="1406858" y="0"/>
                    <a:pt x="0" y="101156"/>
                    <a:pt x="0" y="225938"/>
                  </a:cubicBezTo>
                  <a:cubicBezTo>
                    <a:pt x="0" y="350720"/>
                    <a:pt x="1406858" y="451876"/>
                    <a:pt x="3142305" y="451876"/>
                  </a:cubicBezTo>
                  <a:cubicBezTo>
                    <a:pt x="4877752" y="451876"/>
                    <a:pt x="6284610" y="350720"/>
                    <a:pt x="6284610" y="225938"/>
                  </a:cubicBezTo>
                  <a:cubicBezTo>
                    <a:pt x="6284610" y="101156"/>
                    <a:pt x="4877752" y="0"/>
                    <a:pt x="3142305" y="0"/>
                  </a:cubicBezTo>
                  <a:close/>
                </a:path>
              </a:pathLst>
            </a:custGeom>
            <a:solidFill>
              <a:srgbClr val="FFFFFF"/>
            </a:solidFill>
          </p:spPr>
        </p:sp>
        <p:sp>
          <p:nvSpPr>
            <p:cNvPr name="TextBox 4" id="4"/>
            <p:cNvSpPr txBox="true"/>
            <p:nvPr/>
          </p:nvSpPr>
          <p:spPr>
            <a:xfrm>
              <a:off x="589182" y="-33837"/>
              <a:ext cx="5106246" cy="443349"/>
            </a:xfrm>
            <a:prstGeom prst="rect">
              <a:avLst/>
            </a:prstGeom>
          </p:spPr>
          <p:txBody>
            <a:bodyPr anchor="ctr" rtlCol="false" tIns="50800" lIns="50800" bIns="50800" rIns="50800"/>
            <a:lstStyle/>
            <a:p>
              <a:pPr algn="ctr">
                <a:lnSpc>
                  <a:spcPts val="3449"/>
                </a:lnSpc>
              </a:pPr>
            </a:p>
          </p:txBody>
        </p:sp>
      </p:grpSp>
      <p:sp>
        <p:nvSpPr>
          <p:cNvPr name="Freeform 5" id="5"/>
          <p:cNvSpPr/>
          <p:nvPr/>
        </p:nvSpPr>
        <p:spPr>
          <a:xfrm flipH="false" flipV="false" rot="0">
            <a:off x="13088240" y="2730100"/>
            <a:ext cx="7335729" cy="9722051"/>
          </a:xfrm>
          <a:custGeom>
            <a:avLst/>
            <a:gdLst/>
            <a:ahLst/>
            <a:cxnLst/>
            <a:rect r="r" b="b" t="t" l="l"/>
            <a:pathLst>
              <a:path h="9722051" w="7335729">
                <a:moveTo>
                  <a:pt x="0" y="0"/>
                </a:moveTo>
                <a:lnTo>
                  <a:pt x="7335729" y="0"/>
                </a:lnTo>
                <a:lnTo>
                  <a:pt x="7335729" y="9722050"/>
                </a:lnTo>
                <a:lnTo>
                  <a:pt x="0" y="9722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188983" y="4725398"/>
            <a:ext cx="11910034" cy="1862277"/>
          </a:xfrm>
          <a:prstGeom prst="rect">
            <a:avLst/>
          </a:prstGeom>
        </p:spPr>
        <p:txBody>
          <a:bodyPr anchor="t" rtlCol="false" tIns="0" lIns="0" bIns="0" rIns="0">
            <a:spAutoFit/>
          </a:bodyPr>
          <a:lstStyle/>
          <a:p>
            <a:pPr algn="ctr">
              <a:lnSpc>
                <a:spcPts val="13553"/>
              </a:lnSpc>
            </a:pPr>
            <a:r>
              <a:rPr lang="en-US" sz="15229">
                <a:solidFill>
                  <a:srgbClr val="FFFFFF"/>
                </a:solidFill>
                <a:latin typeface="Kooperativ"/>
                <a:ea typeface="Kooperativ"/>
                <a:cs typeface="Kooperativ"/>
                <a:sym typeface="Kooperativ"/>
              </a:rPr>
              <a:t>Thank You</a:t>
            </a:r>
          </a:p>
        </p:txBody>
      </p:sp>
      <p:sp>
        <p:nvSpPr>
          <p:cNvPr name="Freeform 7" id="7"/>
          <p:cNvSpPr/>
          <p:nvPr/>
        </p:nvSpPr>
        <p:spPr>
          <a:xfrm flipH="true" flipV="false" rot="0">
            <a:off x="-1301360" y="3329341"/>
            <a:ext cx="6477912" cy="8523569"/>
          </a:xfrm>
          <a:custGeom>
            <a:avLst/>
            <a:gdLst/>
            <a:ahLst/>
            <a:cxnLst/>
            <a:rect r="r" b="b" t="t" l="l"/>
            <a:pathLst>
              <a:path h="8523569" w="6477912">
                <a:moveTo>
                  <a:pt x="6477912" y="0"/>
                </a:moveTo>
                <a:lnTo>
                  <a:pt x="0" y="0"/>
                </a:lnTo>
                <a:lnTo>
                  <a:pt x="0" y="8523569"/>
                </a:lnTo>
                <a:lnTo>
                  <a:pt x="6477912" y="8523569"/>
                </a:lnTo>
                <a:lnTo>
                  <a:pt x="647791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722196" y="-6683751"/>
            <a:ext cx="10843608" cy="10784461"/>
          </a:xfrm>
          <a:custGeom>
            <a:avLst/>
            <a:gdLst/>
            <a:ahLst/>
            <a:cxnLst/>
            <a:rect r="r" b="b" t="t" l="l"/>
            <a:pathLst>
              <a:path h="10784461" w="10843608">
                <a:moveTo>
                  <a:pt x="0" y="0"/>
                </a:moveTo>
                <a:lnTo>
                  <a:pt x="10843608" y="0"/>
                </a:lnTo>
                <a:lnTo>
                  <a:pt x="10843608" y="10784461"/>
                </a:lnTo>
                <a:lnTo>
                  <a:pt x="0" y="107844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66846">
            <a:off x="13829530" y="3368499"/>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266846">
            <a:off x="3590392" y="3368499"/>
            <a:ext cx="1050773" cy="1050773"/>
          </a:xfrm>
          <a:custGeom>
            <a:avLst/>
            <a:gdLst/>
            <a:ahLst/>
            <a:cxnLst/>
            <a:rect r="r" b="b" t="t" l="l"/>
            <a:pathLst>
              <a:path h="1050773" w="1050773">
                <a:moveTo>
                  <a:pt x="0" y="0"/>
                </a:moveTo>
                <a:lnTo>
                  <a:pt x="1050773" y="0"/>
                </a:lnTo>
                <a:lnTo>
                  <a:pt x="1050773" y="1050773"/>
                </a:lnTo>
                <a:lnTo>
                  <a:pt x="0" y="10507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387305">
            <a:off x="604679" y="994406"/>
            <a:ext cx="2485981" cy="1889345"/>
          </a:xfrm>
          <a:custGeom>
            <a:avLst/>
            <a:gdLst/>
            <a:ahLst/>
            <a:cxnLst/>
            <a:rect r="r" b="b" t="t" l="l"/>
            <a:pathLst>
              <a:path h="1889345" w="2485981">
                <a:moveTo>
                  <a:pt x="0" y="0"/>
                </a:moveTo>
                <a:lnTo>
                  <a:pt x="2485980" y="0"/>
                </a:lnTo>
                <a:lnTo>
                  <a:pt x="2485980" y="1889346"/>
                </a:lnTo>
                <a:lnTo>
                  <a:pt x="0" y="18893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387305">
            <a:off x="15495264" y="979917"/>
            <a:ext cx="2216682" cy="1684679"/>
          </a:xfrm>
          <a:custGeom>
            <a:avLst/>
            <a:gdLst/>
            <a:ahLst/>
            <a:cxnLst/>
            <a:rect r="r" b="b" t="t" l="l"/>
            <a:pathLst>
              <a:path h="1684679" w="2216682">
                <a:moveTo>
                  <a:pt x="0" y="0"/>
                </a:moveTo>
                <a:lnTo>
                  <a:pt x="2216683" y="0"/>
                </a:lnTo>
                <a:lnTo>
                  <a:pt x="2216683" y="1684679"/>
                </a:lnTo>
                <a:lnTo>
                  <a:pt x="0" y="16846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6064098" y="6701974"/>
            <a:ext cx="6424776" cy="1250365"/>
          </a:xfrm>
          <a:prstGeom prst="rect">
            <a:avLst/>
          </a:prstGeom>
        </p:spPr>
        <p:txBody>
          <a:bodyPr anchor="t" rtlCol="false" tIns="0" lIns="0" bIns="0" rIns="0">
            <a:spAutoFit/>
          </a:bodyPr>
          <a:lstStyle/>
          <a:p>
            <a:pPr algn="ctr">
              <a:lnSpc>
                <a:spcPts val="5022"/>
              </a:lnSpc>
            </a:pPr>
            <a:r>
              <a:rPr lang="en-US" sz="3587">
                <a:solidFill>
                  <a:srgbClr val="FFFFFF"/>
                </a:solidFill>
                <a:latin typeface="Canva Sans Bold"/>
                <a:ea typeface="Canva Sans Bold"/>
                <a:cs typeface="Canva Sans Bold"/>
                <a:sym typeface="Canva Sans Bold"/>
              </a:rPr>
              <a:t>BY - KARTIKAY CHAUDHARY </a:t>
            </a:r>
          </a:p>
          <a:p>
            <a:pPr algn="ctr">
              <a:lnSpc>
                <a:spcPts val="5022"/>
              </a:lnSpc>
            </a:pPr>
            <a:r>
              <a:rPr lang="en-US" sz="3587">
                <a:solidFill>
                  <a:srgbClr val="FFFFFF"/>
                </a:solidFill>
                <a:latin typeface="Canva Sans Bold"/>
                <a:ea typeface="Canva Sans Bold"/>
                <a:cs typeface="Canva Sans Bold"/>
                <a:sym typeface="Canva Sans Bold"/>
              </a:rPr>
              <a:t>2K21/EE/158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DAGPPvLx3Lk</dc:identifier>
  <dcterms:modified xsi:type="dcterms:W3CDTF">2011-08-01T06:04:30Z</dcterms:modified>
  <cp:revision>1</cp:revision>
  <dc:title>Pizza</dc:title>
</cp:coreProperties>
</file>